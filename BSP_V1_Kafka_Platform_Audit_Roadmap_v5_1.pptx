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Partitions per broker</c:v>
                </c:pt>
              </c:strCache>
            </c:strRef>
          </c:tx>
          <c:spPr>
            <a:solidFill>
              <a:srgbClr val="5B6B85"/>
            </a:solidFill>
            <a:effectLst/>
          </c:spPr>
          <c:invertIfNegative val="0"/>
          <c:dLbls>
            <c:numFmt formatCode="#,##0" sourceLinked="0"/>
            <c:txPr>
              <a:bodyPr/>
              <a:lstStyle/>
              <a:p>
                <a:pPr>
                  <a:defRPr b="0" i="0" strike="noStrike" sz="1200" u="none">
                    <a:solidFill>
                      <a:srgbClr val="0B1F45"/>
                    </a:solidFill>
                    <a:latin typeface="+mn-lt"/>
                  </a:defRPr>
                </a:pPr>
              </a:p>
            </c:txPr>
            <c:showLegendKey val="0"/>
            <c:showVal val="1"/>
            <c:showCatName val="0"/>
            <c:showSerName val="0"/>
            <c:showPercent val="0"/>
            <c:showBubbleSize val="0"/>
            <c:showLeaderLines val="0"/>
          </c:dLbls>
          <c:dPt>
            <c:idx val="0"/>
            <c:invertIfNegative val="0"/>
            <c:bubble3D val="0"/>
            <c:spPr>
              <a:solidFill>
                <a:srgbClr val="5B6B85"/>
              </a:solidFill>
              <a:effectLst/>
            </c:spPr>
          </c:dPt>
          <c:dPt>
            <c:idx val="1"/>
            <c:invertIfNegative val="0"/>
            <c:bubble3D val="0"/>
            <c:spPr>
              <a:solidFill>
                <a:srgbClr val="C62828"/>
              </a:solidFill>
              <a:effectLst/>
            </c:spPr>
          </c:dPt>
          <c:dPt>
            <c:idx val="2"/>
            <c:invertIfNegative val="0"/>
            <c:bubble3D val="0"/>
            <c:spPr>
              <a:solidFill>
                <a:srgbClr val="C62828"/>
              </a:solidFill>
              <a:effectLst/>
            </c:spPr>
          </c:dPt>
          <c:cat>
            <c:multiLvlStrRef>
              <c:f>Sheet1!$A$2:$A$4</c:f>
              <c:multiLvlStrCache>
                <c:ptCount val="3"/>
                <c:lvl>
                  <c:pt idx="0">
                    <c:v>Guidance (max)</c:v>
                  </c:pt>
                  <c:pt idx="1">
                    <c:v>PROD today</c:v>
                  </c:pt>
                  <c:pt idx="2">
                    <c:v>UAT today</c:v>
                  </c:pt>
                </c:lvl>
              </c:multiLvlStrCache>
            </c:multiLvlStrRef>
          </c:cat>
          <c:val>
            <c:numRef>
              <c:f>Sheet1!$B$2:$B$4</c:f>
              <c:numCache>
                <c:formatCode>General</c:formatCode>
                <c:ptCount val="3"/>
                <c:pt idx="0">
                  <c:v>4000</c:v>
                </c:pt>
                <c:pt idx="1">
                  <c:v>4520</c:v>
                </c:pt>
                <c:pt idx="2">
                  <c:v>13880</c:v>
                </c:pt>
              </c:numCache>
            </c:numRef>
          </c:val>
        </c:ser>
        <c:dLbls>
          <c:numFmt formatCode="#,##0" sourceLinked="0"/>
          <c:txPr>
            <a:bodyPr/>
            <a:lstStyle/>
            <a:p>
              <a:pPr>
                <a:defRPr b="0" i="0" strike="noStrike" sz="1200" u="none">
                  <a:solidFill>
                    <a:srgbClr val="0B1F45"/>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0B1F45"/>
                </a:solidFill>
                <a:latin typeface="+mn-lt"/>
              </a:defRPr>
            </a:pPr>
            <a:endParaRPr lang="en-US"/>
          </a:p>
        </c:txPr>
        <c:crossAx val="2094734552"/>
        <c:crosses val="autoZero"/>
        <c:auto val="1"/>
        <c:lblAlgn val="ctr"/>
        <c:noMultiLvlLbl val="1"/>
      </c:catAx>
      <c:valAx>
        <c:axId val="2094734552"/>
        <c:scaling>
          <c:orientation val="minMax"/>
          <c:max val="16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 the purpose of doing this here and now.
- Operational (lead reason): EMEA runs a 2.5-DC stretch cluster. During patching cycles and DCR activity, failover/failback is slow: leader election takes much longer and under-replicated partition (URP) recovery is extended because partition counts are far above recommended levels. The PROD team has confirmed this happens very frequently.
- Kafka 2.8 released Apr 2021; last patch 2.8.2 Sep 2022; end of life. We run 2.8.1, so we lack even the 2.8.2 fix for CVE-2022-34917. Apache Kafka is on 4.3 (4.3.2 current).
- Kafka 4.x is KRaft-only: ZooKeeper clusters must migrate to KRaft first (3.9 is the bridge). 4.x brokers need Java 17; clients need 2.1+ and Java 11+.
- CVEs on 2.8.1 (examples): CVE-2022-34917 broker memory DoS (7.5, fixed 2.8.2); CVE-2025-27819 JndiLoginModule RCE/DoS, 2.0.0–3.3.2 (7.5); CVE-2024-31141 ConfigProvider file read (fixed 3.8.0); CVE-2023-25194 Kafka Connect JNDI (Connect REST on 8083 is in use).
- RHEL 7: ~28 VMs across PROD and UAT at the start of the exercise (~14 PROD); some already migrated; further analysis under way may adjust the count. Maintenance ended 30 Jun 2024; ELS for 7.9 to 31 May 2029 (paid).
Sources: kafka.apache.org/43/getting-started/upgrade; endoflife.ai/apache-kafka/2.8; Broadcom advisory 36810; cve.org CVE-2025-27819; redhat.com RHEL 7 end-of-maintenance.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ISSUE – EMEA BSP v1 (50 brokers PROD, 50 UAT, Kafka 2.8.1, ZooKeeper, 2.5-DC stretch).
- PROD 226K partitions (~4,520 per broker). UAT 694K (~13,880 per broker). Assumes counts include replicas, as the guidance does.
- Guidance (Confluent / Apache, ZooKeeper mode): up to 4,000 partitions per broker and 200,000 per cluster. Above this, controller failover, broker restarts and leader elections slow down – exactly the failover/failback symptom PROD sees during patching and DCR.
- Topic ownership is known, but there is no visibility of the mapping between topics and system IDs. That mapping is needed to set and enforce network (client) quotas per system ID.
- Memory: Grafana shows JVM heap at 60–90% on PROD brokers, reaching 90% on the busiest, depending on load. Partition cleanup alone may not bring heap down materially – we re-measure after cleanup and then decide on vertical scaling (heap/RAM) vs horizontal scaling.
- Storage ~60% and CPU ~20% average (peaks 40–50%) are not the bottleneck. Still to check: CPU spike during a broker restart cycle.
- Growth velocity (PROD), from Grafana "Kafka Overview – Total PartitionCounts", EMEA PROD, last 30 days: ~216.3K on 15 Oct -&gt; ~220.4K on 30 Oct = ~+4.1K in 15 days, i.e. ~270 per day, ~1.9K per week (~+1.9% in two weeks, ~40 per broker per week). Steady step-ups, no reductions – nothing is being cleaned up today. Linear projection: ~+20K over a 10-week audit, ~+100K in a year. Cleanup therefore has to cut today's excess AND offset ongoing growth, so topic-creation guardrails and recurring hygiene are part of the fix.
- The short drops on the Grafana chart are gaps in metric collection, not real changes; they are excluded from the growth calculation.
- Note: Grafana currently shows ~220K; the 226K headline comes from a separate count. Reconcile the two sources (e.g. replicas vs partitions, internal topics) before presenting.
- Realistic PROD floor: if excess topics are not the main driver of partition growth, cleanup likely bottoms out around 150–160K. Target &lt;180K.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REGIONAL VIEW – the audit runs across EMEA, AMR and APAC; EMEA PROD is the heaviest hitter.
- EMEA: 50 PROD / 50 UAT brokers. Nothing spare for PROD. The RHEL 7 brokers once considered for repurposing (to reach 52) turned out to be GL VMs that must be fully decommissioned, so they are not an option.
- AMR: PROD has 12 brokers; UAT was expanded to 36. A matching PROD expansion (+24 VMs to reach 36) was requested and the VMs were provisioned, but they have not been attached to the cluster for about two years. Cause unclear (bandwidth or prioritisation with the RTP team). Attaching them is the fastest capacity gain and avoids new spend. New broker requests for the current expansion risk sitting idle in the same way.
- APAC: 12 PROD brokers, minimal traffic – sufficient. UAT expanded to 28 for an expected use case that has not materialised. A similar PROD expansion is planned but no benefit is visible. Procurement requests from that time had availability issues; need to confirm whether they were fulfilled, partially fulfilled or are still open.
- Node counts are from the working session; confirm against CMDB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MEASURES – current vs target.
- PROD partitions 226K -&gt; &lt;180K (~20% cut). Realistic floor 150–160K if excess topics are not the main driver. &lt;180K = &lt;3,600 per broker, under the 4,000 guidance.
- Partition growth: Grafana shows PROD ~216K (15 Oct) -&gt; ~220K (30 Oct), ~1.9K/week net, ~270/day. Target = only approved growth, enforced by topic-creation guardrails and per-system quotas.
- UAT 694K -&gt; &lt;=200K proposed: UAT has the largest reduction opportunity and is the safest place to start.
- Failover: measure leader-election duration and time to zero under-replicated partitions after a broker restart, during the next patching cycle. Agree an SLA with the PROD team once the baseline is known.
- System-ID mapping: owners are known, but topic-to-system-ID mapping is not visible; 100% mapping enables network quotas per system ID and supports BSP 2.0 sizing.
- Memory: JVM heap 60–90% today (90% on the busiest brokers). After cleanup, rerun the JVM analysis; then decide whether to increase heap/RAM (vertical) or add brokers (horizontal). Cleanup alone may not lower heap much – that is why this KPI's target is a decision, not a number.
- Storage ~60% and CPU ~20% (peaks 40–50%) are healthy; the KPI is to hold them. Also monitor a restart cycle for CPU spikes.
- Idle capacity: 24 AMR PROD VMs provisioned ~2 years ago and never attached. Target zero idle – attach or release.
- RHEL 7: ~28 VMs (≈14 PROD) at the start; some migrated since; count being refined by further analysis.
- Supporting health signals on the scorecard: under-replicated partitions = 0 in steady state, offline partitions = 0, consumer lag within SLA.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 three workstreams in sequence.
1 Clean up: dormant = no produce/consume activity over an agreed window, confirmed by the owner. Kafka cannot reduce a topic's partition count in place, so over-partitioned topics are recreated at the right size and tenants cut over. All deletions under change control. Make it a periodic cleanup so the estate does not drift back.
2 Size on evidence: after cleanup, rerun JVM heap/GC analysis. If heap stays at 60–90%, test vertical scaling (heap/RAM) first; if that is not enough, horizontal. Observe a broker restart cycle for CPU spikes and election time. In AMR, attach the 24 provisioned-but-idle PROD VMs before any new purchase.
3 Harden &amp; prepare: CVE patching or config mitigations (restrict AlterConfigs, disallow JndiLoginModule, Connect client override policy); RHEL 7 exit and full decommission of the GL VMs; upgrade route 2.8 -&gt; 3.9 (KRaft) -&gt; 4.x, Java 17 brokers, clients &gt;= 2.1. Kafka upgrade stays secondary to tenant migration to BSP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TIMELINE – executive working proposal, Oct 2026. Audit dates and KPI targets subject to validation.
- Weeks 1-3: inventory EMEA, AMR and APAC (clusters, brokers, topics, owners, idle VMs, RHEL 7 VMs); baseline all KPIs including failover timings from the next patching cycle.
- Weeks 4-5: prioritise; agree owners, change windows and KPI targets.
- Weeks 6-10+: cleanup UAT then PROD under change control; rerun JVM analysis; decide vertical vs horizontal scaling; attach AMR idle VMs; validate and sign off residual risks. Weekly scorecard to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777240" y="6382512"/>
            <a:ext cx="3657600" cy="274320"/>
          </a:xfrm>
          <a:prstGeom prst="rect">
            <a:avLst/>
          </a:prstGeom>
          <a:noFill/>
          <a:ln/>
        </p:spPr>
        <p:txBody>
          <a:bodyPr wrap="square" lIns="0" tIns="0" rIns="0" bIns="0" rtlCol="0" anchor="ctr"/>
          <a:lstStyle/>
          <a:p>
            <a:pPr indent="0" marL="0">
              <a:buNone/>
            </a:pPr>
            <a:r>
              <a:rPr lang="en-US" sz="1000" dirty="0">
                <a:solidFill>
                  <a:schemeClr val="accent6"/>
                </a:solidFill>
              </a:rPr>
              <a:t>BSP 1.0 Audit roadmap</a:t>
            </a:r>
            <a:endParaRPr lang="en-US" sz="1000" dirty="0"/>
          </a:p>
        </p:txBody>
      </p:sp>
      <p:sp>
        <p:nvSpPr>
          <p:cNvPr id="4" name="Text 1"/>
          <p:cNvSpPr/>
          <p:nvPr/>
        </p:nvSpPr>
        <p:spPr>
          <a:xfrm>
            <a:off x="4270248" y="6382512"/>
            <a:ext cx="3657600" cy="274320"/>
          </a:xfrm>
          <a:prstGeom prst="rect">
            <a:avLst/>
          </a:prstGeom>
          <a:noFill/>
          <a:ln/>
        </p:spPr>
        <p:txBody>
          <a:bodyPr wrap="square" lIns="0" tIns="0" rIns="0" bIns="0" rtlCol="0" anchor="ctr"/>
          <a:lstStyle/>
          <a:p>
            <a:pPr algn="ctr" indent="0" marL="0">
              <a:buNone/>
            </a:pPr>
            <a:r>
              <a:rPr lang="en-US" sz="1000" dirty="0">
                <a:solidFill>
                  <a:schemeClr val="accent6"/>
                </a:solidFill>
              </a:rPr>
              <a:t>Restricted - Internal</a:t>
            </a:r>
            <a:endParaRPr lang="en-US" sz="1000" dirty="0"/>
          </a:p>
        </p:txBody>
      </p:sp>
      <p:sp>
        <p:nvSpPr>
          <p:cNvPr id="25" name="Slide Number Placeholder 0"/>
          <p:cNvSpPr>
            <a:spLocks noGrp="1"/>
          </p:cNvSpPr>
          <p:nvPr>
            <p:ph type="sldNum" sz="quarter" idx="4294967295"/>
          </p:nvPr>
        </p:nvSpPr>
        <p:spPr>
          <a:xfrm>
            <a:off x="457200" y="6382512"/>
            <a:ext cx="3200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6382512"/>
            <a:ext cx="3200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tep 1"/>
          <p:cNvSpPr/>
          <p:nvPr/>
        </p:nvSpPr>
        <p:spPr>
          <a:xfrm>
            <a:off x="457200" y="201168"/>
            <a:ext cx="2194560" cy="256032"/>
          </a:xfrm>
          <a:prstGeom prst="roundRect">
            <a:avLst>
              <a:gd name="adj" fmla="val 50000"/>
            </a:avLst>
          </a:prstGeom>
          <a:solidFill>
            <a:schemeClr val="tx2"/>
          </a:solidFill>
          <a:ln w="12700">
            <a:solidFill>
              <a:schemeClr val="tx2"/>
            </a:solidFill>
            <a:prstDash val="solid"/>
          </a:ln>
        </p:spPr>
      </p:sp>
      <p:sp>
        <p:nvSpPr>
          <p:cNvPr id="3" name="Text 1"/>
          <p:cNvSpPr txBox="1"/>
          <p:nvPr/>
        </p:nvSpPr>
        <p:spPr>
          <a:xfrm>
            <a:off x="457200" y="201168"/>
            <a:ext cx="2194560" cy="256032"/>
          </a:xfrm>
          <a:prstGeom prst="rect">
            <a:avLst/>
          </a:prstGeom>
          <a:noFill/>
          <a:ln/>
        </p:spPr>
        <p:txBody>
          <a:bodyPr wrap="square" lIns="0" tIns="0" rIns="0" bIns="0" rtlCol="0" anchor="ctr"/>
          <a:lstStyle/>
          <a:p>
            <a:pPr algn="ctr" indent="0" marL="0">
              <a:buNone/>
            </a:pPr>
            <a:r>
              <a:rPr lang="en-US" sz="950" b="1" dirty="0">
                <a:solidFill>
                  <a:schemeClr val="bg1"/>
                </a:solidFill>
              </a:rPr>
              <a:t>1  Why now · Business driver</a:t>
            </a:r>
            <a:endParaRPr lang="en-US" sz="950" dirty="0"/>
          </a:p>
        </p:txBody>
      </p:sp>
      <p:sp>
        <p:nvSpPr>
          <p:cNvPr id="4" name="Step 2"/>
          <p:cNvSpPr/>
          <p:nvPr/>
        </p:nvSpPr>
        <p:spPr>
          <a:xfrm>
            <a:off x="2761488" y="201168"/>
            <a:ext cx="2119579" cy="256032"/>
          </a:xfrm>
          <a:prstGeom prst="roundRect">
            <a:avLst>
              <a:gd name="adj" fmla="val 50000"/>
            </a:avLst>
          </a:prstGeom>
          <a:solidFill>
            <a:schemeClr val="bg2"/>
          </a:solidFill>
          <a:ln w="12700">
            <a:solidFill>
              <a:schemeClr val="bg2"/>
            </a:solidFill>
            <a:prstDash val="solid"/>
          </a:ln>
        </p:spPr>
      </p:sp>
      <p:sp>
        <p:nvSpPr>
          <p:cNvPr id="5" name="Text 3"/>
          <p:cNvSpPr txBox="1"/>
          <p:nvPr/>
        </p:nvSpPr>
        <p:spPr>
          <a:xfrm>
            <a:off x="2761488" y="201168"/>
            <a:ext cx="2119579" cy="256032"/>
          </a:xfrm>
          <a:prstGeom prst="rect">
            <a:avLst/>
          </a:prstGeom>
          <a:noFill/>
          <a:ln/>
        </p:spPr>
        <p:txBody>
          <a:bodyPr wrap="square" lIns="0" tIns="0" rIns="0" bIns="0" rtlCol="0" anchor="ctr"/>
          <a:lstStyle/>
          <a:p>
            <a:pPr algn="ctr" indent="0" marL="0">
              <a:buNone/>
            </a:pPr>
            <a:r>
              <a:rPr lang="en-US" sz="950" dirty="0">
                <a:solidFill>
                  <a:schemeClr val="accent6"/>
                </a:solidFill>
              </a:rPr>
              <a:t>2  The issue · Current risk</a:t>
            </a:r>
            <a:endParaRPr lang="en-US" sz="950" dirty="0"/>
          </a:p>
        </p:txBody>
      </p:sp>
      <p:sp>
        <p:nvSpPr>
          <p:cNvPr id="6" name="Step 3"/>
          <p:cNvSpPr/>
          <p:nvPr/>
        </p:nvSpPr>
        <p:spPr>
          <a:xfrm>
            <a:off x="4990795" y="201168"/>
            <a:ext cx="1744675" cy="256032"/>
          </a:xfrm>
          <a:prstGeom prst="roundRect">
            <a:avLst>
              <a:gd name="adj" fmla="val 50000"/>
            </a:avLst>
          </a:prstGeom>
          <a:solidFill>
            <a:schemeClr val="bg2"/>
          </a:solidFill>
          <a:ln w="12700">
            <a:solidFill>
              <a:schemeClr val="bg2"/>
            </a:solidFill>
            <a:prstDash val="solid"/>
          </a:ln>
        </p:spPr>
      </p:sp>
      <p:sp>
        <p:nvSpPr>
          <p:cNvPr id="7" name="Text 5"/>
          <p:cNvSpPr txBox="1"/>
          <p:nvPr/>
        </p:nvSpPr>
        <p:spPr>
          <a:xfrm>
            <a:off x="4990795" y="201168"/>
            <a:ext cx="1744675" cy="256032"/>
          </a:xfrm>
          <a:prstGeom prst="rect">
            <a:avLst/>
          </a:prstGeom>
          <a:noFill/>
          <a:ln/>
        </p:spPr>
        <p:txBody>
          <a:bodyPr wrap="square" lIns="0" tIns="0" rIns="0" bIns="0" rtlCol="0" anchor="ctr"/>
          <a:lstStyle/>
          <a:p>
            <a:pPr algn="ctr" indent="0" marL="0">
              <a:buNone/>
            </a:pPr>
            <a:r>
              <a:rPr lang="en-US" sz="950" dirty="0">
                <a:solidFill>
                  <a:schemeClr val="accent6"/>
                </a:solidFill>
              </a:rPr>
              <a:t>3  The measures · KPIs</a:t>
            </a:r>
            <a:endParaRPr lang="en-US" sz="950" dirty="0"/>
          </a:p>
        </p:txBody>
      </p:sp>
      <p:sp>
        <p:nvSpPr>
          <p:cNvPr id="8" name="Step 4"/>
          <p:cNvSpPr/>
          <p:nvPr/>
        </p:nvSpPr>
        <p:spPr>
          <a:xfrm>
            <a:off x="6845198" y="201168"/>
            <a:ext cx="1969618" cy="256032"/>
          </a:xfrm>
          <a:prstGeom prst="roundRect">
            <a:avLst>
              <a:gd name="adj" fmla="val 50000"/>
            </a:avLst>
          </a:prstGeom>
          <a:solidFill>
            <a:schemeClr val="bg2"/>
          </a:solidFill>
          <a:ln w="12700">
            <a:solidFill>
              <a:schemeClr val="bg2"/>
            </a:solidFill>
            <a:prstDash val="solid"/>
          </a:ln>
        </p:spPr>
      </p:sp>
      <p:sp>
        <p:nvSpPr>
          <p:cNvPr id="9" name="Text 7"/>
          <p:cNvSpPr txBox="1"/>
          <p:nvPr/>
        </p:nvSpPr>
        <p:spPr>
          <a:xfrm>
            <a:off x="6845198" y="201168"/>
            <a:ext cx="1969618" cy="256032"/>
          </a:xfrm>
          <a:prstGeom prst="rect">
            <a:avLst/>
          </a:prstGeom>
          <a:noFill/>
          <a:ln/>
        </p:spPr>
        <p:txBody>
          <a:bodyPr wrap="square" lIns="0" tIns="0" rIns="0" bIns="0" rtlCol="0" anchor="ctr"/>
          <a:lstStyle/>
          <a:p>
            <a:pPr algn="ctr" indent="0" marL="0">
              <a:buNone/>
            </a:pPr>
            <a:r>
              <a:rPr lang="en-US" sz="950" dirty="0">
                <a:solidFill>
                  <a:schemeClr val="accent6"/>
                </a:solidFill>
              </a:rPr>
              <a:t>4  The plan · Remediation</a:t>
            </a:r>
            <a:endParaRPr lang="en-US" sz="950" dirty="0"/>
          </a:p>
        </p:txBody>
      </p:sp>
      <p:sp>
        <p:nvSpPr>
          <p:cNvPr id="10" name="Step 5"/>
          <p:cNvSpPr/>
          <p:nvPr/>
        </p:nvSpPr>
        <p:spPr>
          <a:xfrm>
            <a:off x="8924544" y="201168"/>
            <a:ext cx="1969618" cy="256032"/>
          </a:xfrm>
          <a:prstGeom prst="roundRect">
            <a:avLst>
              <a:gd name="adj" fmla="val 50000"/>
            </a:avLst>
          </a:prstGeom>
          <a:solidFill>
            <a:schemeClr val="bg2"/>
          </a:solidFill>
          <a:ln w="12700">
            <a:solidFill>
              <a:schemeClr val="bg2"/>
            </a:solidFill>
            <a:prstDash val="solid"/>
          </a:ln>
        </p:spPr>
      </p:sp>
      <p:sp>
        <p:nvSpPr>
          <p:cNvPr id="11" name="Text 9"/>
          <p:cNvSpPr txBox="1"/>
          <p:nvPr/>
        </p:nvSpPr>
        <p:spPr>
          <a:xfrm>
            <a:off x="8924544" y="201168"/>
            <a:ext cx="1969618" cy="256032"/>
          </a:xfrm>
          <a:prstGeom prst="rect">
            <a:avLst/>
          </a:prstGeom>
          <a:noFill/>
          <a:ln/>
        </p:spPr>
        <p:txBody>
          <a:bodyPr wrap="square" lIns="0" tIns="0" rIns="0" bIns="0" rtlCol="0" anchor="ctr"/>
          <a:lstStyle/>
          <a:p>
            <a:pPr algn="ctr" indent="0" marL="0">
              <a:buNone/>
            </a:pPr>
            <a:r>
              <a:rPr lang="en-US" sz="950" dirty="0">
                <a:solidFill>
                  <a:schemeClr val="accent6"/>
                </a:solidFill>
              </a:rPr>
              <a:t>5  The timeline · Roadmap</a:t>
            </a:r>
            <a:endParaRPr lang="en-US" sz="950" dirty="0"/>
          </a:p>
        </p:txBody>
      </p:sp>
      <p:sp>
        <p:nvSpPr>
          <p:cNvPr id="12" name="Text 0"/>
          <p:cNvSpPr/>
          <p:nvPr>
            <p:ph idx="100" type="title" hasCustomPrompt="1"/>
          </p:nvPr>
        </p:nvSpPr>
        <p:spPr>
          <a:xfrm>
            <a:off x="457200" y="566928"/>
            <a:ext cx="11274552" cy="685800"/>
          </a:xfrm>
          <a:prstGeom prst="rect">
            <a:avLst/>
          </a:prstGeom>
          <a:noFill/>
          <a:ln/>
        </p:spPr>
        <p:txBody>
          <a:bodyPr wrap="square" lIns="0" tIns="0" rIns="0" bIns="0" rtlCol="0" anchor="t"/>
          <a:lstStyle/>
          <a:p>
            <a:pPr algn="l" indent="0" marL="0">
              <a:buNone/>
            </a:pPr>
            <a:r>
              <a:rPr lang="en-US" sz="2800" b="1" dirty="0">
                <a:solidFill>
                  <a:schemeClr val="tx1"/>
                </a:solidFill>
              </a:rPr>
              <a:t>Why now: failover is slow and the platform is out of support</a:t>
            </a:r>
            <a:endParaRPr lang="en-US" sz="2800" dirty="0"/>
          </a:p>
        </p:txBody>
      </p:sp>
      <p:sp>
        <p:nvSpPr>
          <p:cNvPr id="13" name="Driver 1"/>
          <p:cNvSpPr/>
          <p:nvPr/>
        </p:nvSpPr>
        <p:spPr>
          <a:xfrm>
            <a:off x="457200" y="1508760"/>
            <a:ext cx="2606040" cy="3291840"/>
          </a:xfrm>
          <a:prstGeom prst="roundRect">
            <a:avLst>
              <a:gd name="adj" fmla="val 2807"/>
            </a:avLst>
          </a:prstGeom>
          <a:solidFill>
            <a:schemeClr val="bg2"/>
          </a:solidFill>
          <a:ln w="12700">
            <a:solidFill>
              <a:schemeClr val="bg2"/>
            </a:solidFill>
            <a:prstDash val="solid"/>
          </a:ln>
        </p:spPr>
      </p:sp>
      <p:sp>
        <p:nvSpPr>
          <p:cNvPr id="14" name="Driver icon bg 1"/>
          <p:cNvSpPr/>
          <p:nvPr/>
        </p:nvSpPr>
        <p:spPr>
          <a:xfrm>
            <a:off x="731520" y="1783080"/>
            <a:ext cx="548640" cy="548640"/>
          </a:xfrm>
          <a:prstGeom prst="ellipse">
            <a:avLst/>
          </a:prstGeom>
          <a:solidFill>
            <a:schemeClr val="tx2"/>
          </a:solidFill>
          <a:ln w="12700">
            <a:solidFill>
              <a:schemeClr val="tx2"/>
            </a:solidFill>
            <a:prstDash val="solid"/>
          </a:ln>
        </p:spPr>
      </p:sp>
      <p:pic>
        <p:nvPicPr>
          <p:cNvPr id="15" name="Image 0" descr="Slow recovery">    </p:cNvPr>
          <p:cNvPicPr>
            <a:picLocks noChangeAspect="1"/>
          </p:cNvPicPr>
          <p:nvPr/>
        </p:nvPicPr>
        <p:blipFill>
          <a:blip r:embed="rId1"/>
          <a:stretch>
            <a:fillRect/>
          </a:stretch>
        </p:blipFill>
        <p:spPr>
          <a:xfrm>
            <a:off x="868680" y="1920240"/>
            <a:ext cx="274320" cy="274320"/>
          </a:xfrm>
          <a:prstGeom prst="rect">
            <a:avLst/>
          </a:prstGeom>
        </p:spPr>
      </p:pic>
      <p:sp>
        <p:nvSpPr>
          <p:cNvPr id="16" name="Text 13"/>
          <p:cNvSpPr txBox="1"/>
          <p:nvPr/>
        </p:nvSpPr>
        <p:spPr>
          <a:xfrm>
            <a:off x="731520" y="2468880"/>
            <a:ext cx="2148840" cy="548640"/>
          </a:xfrm>
          <a:prstGeom prst="rect">
            <a:avLst/>
          </a:prstGeom>
          <a:noFill/>
          <a:ln/>
        </p:spPr>
        <p:txBody>
          <a:bodyPr wrap="square" lIns="0" tIns="0" rIns="0" bIns="0" rtlCol="0" anchor="ctr"/>
          <a:lstStyle/>
          <a:p>
            <a:pPr indent="0" marL="0">
              <a:buNone/>
            </a:pPr>
            <a:r>
              <a:rPr lang="en-US" sz="2800" b="1" dirty="0">
                <a:solidFill>
                  <a:schemeClr val="accent3"/>
                </a:solidFill>
              </a:rPr>
              <a:t>Failover</a:t>
            </a:r>
            <a:endParaRPr lang="en-US" sz="2800" dirty="0"/>
          </a:p>
        </p:txBody>
      </p:sp>
      <p:sp>
        <p:nvSpPr>
          <p:cNvPr id="17" name="Text 14"/>
          <p:cNvSpPr txBox="1"/>
          <p:nvPr/>
        </p:nvSpPr>
        <p:spPr>
          <a:xfrm>
            <a:off x="731520" y="3044952"/>
            <a:ext cx="2057400" cy="320040"/>
          </a:xfrm>
          <a:prstGeom prst="rect">
            <a:avLst/>
          </a:prstGeom>
          <a:noFill/>
          <a:ln/>
        </p:spPr>
        <p:txBody>
          <a:bodyPr wrap="square" lIns="0" tIns="0" rIns="0" bIns="0" rtlCol="0" anchor="ctr"/>
          <a:lstStyle/>
          <a:p>
            <a:pPr indent="0" marL="0">
              <a:buNone/>
            </a:pPr>
            <a:r>
              <a:rPr lang="en-US" sz="1600" b="1" dirty="0">
                <a:solidFill>
                  <a:schemeClr val="tx1"/>
                </a:solidFill>
              </a:rPr>
              <a:t>Slow recovery</a:t>
            </a:r>
            <a:endParaRPr lang="en-US" sz="1600" dirty="0"/>
          </a:p>
        </p:txBody>
      </p:sp>
      <p:sp>
        <p:nvSpPr>
          <p:cNvPr id="18" name="Text 15"/>
          <p:cNvSpPr txBox="1"/>
          <p:nvPr/>
        </p:nvSpPr>
        <p:spPr>
          <a:xfrm>
            <a:off x="731520" y="3410712"/>
            <a:ext cx="2103120" cy="1325880"/>
          </a:xfrm>
          <a:prstGeom prst="rect">
            <a:avLst/>
          </a:prstGeom>
          <a:noFill/>
          <a:ln/>
        </p:spPr>
        <p:txBody>
          <a:bodyPr wrap="square" lIns="0" tIns="0" rIns="0" bIns="0" rtlCol="0" anchor="t"/>
          <a:lstStyle/>
          <a:p>
            <a:pPr indent="0" marL="0">
              <a:buNone/>
            </a:pPr>
            <a:r>
              <a:rPr lang="en-US" sz="1300" dirty="0">
                <a:solidFill>
                  <a:schemeClr val="tx1"/>
                </a:solidFill>
              </a:rPr>
              <a:t>During patching and DCR, leader election and under-replicated partition recovery run long on the 2.5-DC stretch cluster. PROD reports this frequently.</a:t>
            </a:r>
            <a:endParaRPr lang="en-US" sz="1300" dirty="0"/>
          </a:p>
        </p:txBody>
      </p:sp>
      <p:sp>
        <p:nvSpPr>
          <p:cNvPr id="19" name="Driver 2"/>
          <p:cNvSpPr/>
          <p:nvPr/>
        </p:nvSpPr>
        <p:spPr>
          <a:xfrm>
            <a:off x="3346704" y="1508760"/>
            <a:ext cx="2606040" cy="3291840"/>
          </a:xfrm>
          <a:prstGeom prst="roundRect">
            <a:avLst>
              <a:gd name="adj" fmla="val 2807"/>
            </a:avLst>
          </a:prstGeom>
          <a:solidFill>
            <a:schemeClr val="bg2"/>
          </a:solidFill>
          <a:ln w="12700">
            <a:solidFill>
              <a:schemeClr val="bg2"/>
            </a:solidFill>
            <a:prstDash val="solid"/>
          </a:ln>
        </p:spPr>
      </p:sp>
      <p:sp>
        <p:nvSpPr>
          <p:cNvPr id="20" name="Driver icon bg 2"/>
          <p:cNvSpPr/>
          <p:nvPr/>
        </p:nvSpPr>
        <p:spPr>
          <a:xfrm>
            <a:off x="3621024" y="1783080"/>
            <a:ext cx="548640" cy="548640"/>
          </a:xfrm>
          <a:prstGeom prst="ellipse">
            <a:avLst/>
          </a:prstGeom>
          <a:solidFill>
            <a:schemeClr val="tx2"/>
          </a:solidFill>
          <a:ln w="12700">
            <a:solidFill>
              <a:schemeClr val="tx2"/>
            </a:solidFill>
            <a:prstDash val="solid"/>
          </a:ln>
        </p:spPr>
      </p:sp>
      <p:pic>
        <p:nvPicPr>
          <p:cNvPr id="21" name="Image 1" descr="Unsupported Kafka">    </p:cNvPr>
          <p:cNvPicPr>
            <a:picLocks noChangeAspect="1"/>
          </p:cNvPicPr>
          <p:nvPr/>
        </p:nvPicPr>
        <p:blipFill>
          <a:blip r:embed="rId2"/>
          <a:stretch>
            <a:fillRect/>
          </a:stretch>
        </p:blipFill>
        <p:spPr>
          <a:xfrm>
            <a:off x="3758184" y="1920240"/>
            <a:ext cx="274320" cy="274320"/>
          </a:xfrm>
          <a:prstGeom prst="rect">
            <a:avLst/>
          </a:prstGeom>
        </p:spPr>
      </p:pic>
      <p:sp>
        <p:nvSpPr>
          <p:cNvPr id="22" name="Text 18"/>
          <p:cNvSpPr txBox="1"/>
          <p:nvPr/>
        </p:nvSpPr>
        <p:spPr>
          <a:xfrm>
            <a:off x="3621024" y="2468880"/>
            <a:ext cx="2148840" cy="548640"/>
          </a:xfrm>
          <a:prstGeom prst="rect">
            <a:avLst/>
          </a:prstGeom>
          <a:noFill/>
          <a:ln/>
        </p:spPr>
        <p:txBody>
          <a:bodyPr wrap="square" lIns="0" tIns="0" rIns="0" bIns="0" rtlCol="0" anchor="ctr"/>
          <a:lstStyle/>
          <a:p>
            <a:pPr indent="0" marL="0">
              <a:buNone/>
            </a:pPr>
            <a:r>
              <a:rPr lang="en-US" sz="2800" b="1" dirty="0">
                <a:solidFill>
                  <a:schemeClr val="accent3"/>
                </a:solidFill>
              </a:rPr>
              <a:t>2.8.1</a:t>
            </a:r>
            <a:endParaRPr lang="en-US" sz="2800" dirty="0"/>
          </a:p>
        </p:txBody>
      </p:sp>
      <p:sp>
        <p:nvSpPr>
          <p:cNvPr id="23" name="Text 19"/>
          <p:cNvSpPr txBox="1"/>
          <p:nvPr/>
        </p:nvSpPr>
        <p:spPr>
          <a:xfrm>
            <a:off x="3621024" y="3044952"/>
            <a:ext cx="2057400" cy="320040"/>
          </a:xfrm>
          <a:prstGeom prst="rect">
            <a:avLst/>
          </a:prstGeom>
          <a:noFill/>
          <a:ln/>
        </p:spPr>
        <p:txBody>
          <a:bodyPr wrap="square" lIns="0" tIns="0" rIns="0" bIns="0" rtlCol="0" anchor="ctr"/>
          <a:lstStyle/>
          <a:p>
            <a:pPr indent="0" marL="0">
              <a:buNone/>
            </a:pPr>
            <a:r>
              <a:rPr lang="en-US" sz="1600" b="1" dirty="0">
                <a:solidFill>
                  <a:schemeClr val="tx1"/>
                </a:solidFill>
              </a:rPr>
              <a:t>Unsupported Kafka</a:t>
            </a:r>
            <a:endParaRPr lang="en-US" sz="1600" dirty="0"/>
          </a:p>
        </p:txBody>
      </p:sp>
      <p:sp>
        <p:nvSpPr>
          <p:cNvPr id="24" name="Text 20"/>
          <p:cNvSpPr txBox="1"/>
          <p:nvPr/>
        </p:nvSpPr>
        <p:spPr>
          <a:xfrm>
            <a:off x="3621024" y="3410712"/>
            <a:ext cx="2103120" cy="1325880"/>
          </a:xfrm>
          <a:prstGeom prst="rect">
            <a:avLst/>
          </a:prstGeom>
          <a:noFill/>
          <a:ln/>
        </p:spPr>
        <p:txBody>
          <a:bodyPr wrap="square" lIns="0" tIns="0" rIns="0" bIns="0" rtlCol="0" anchor="t"/>
          <a:lstStyle/>
          <a:p>
            <a:pPr indent="0" marL="0">
              <a:buNone/>
            </a:pPr>
            <a:r>
              <a:rPr lang="en-US" sz="1300" dirty="0">
                <a:solidFill>
                  <a:schemeClr val="tx1"/>
                </a:solidFill>
              </a:rPr>
              <a:t>End of life since Sep 2022; Apache is on 4.3. Kafka 4.x drops ZooKeeper, so the path runs via 3.9 (KRaft) on Java 17.</a:t>
            </a:r>
            <a:endParaRPr lang="en-US" sz="1300" dirty="0"/>
          </a:p>
        </p:txBody>
      </p:sp>
      <p:sp>
        <p:nvSpPr>
          <p:cNvPr id="25" name="Driver 3"/>
          <p:cNvSpPr/>
          <p:nvPr/>
        </p:nvSpPr>
        <p:spPr>
          <a:xfrm>
            <a:off x="6236208" y="1508760"/>
            <a:ext cx="2606040" cy="3291840"/>
          </a:xfrm>
          <a:prstGeom prst="roundRect">
            <a:avLst>
              <a:gd name="adj" fmla="val 2807"/>
            </a:avLst>
          </a:prstGeom>
          <a:solidFill>
            <a:schemeClr val="bg2"/>
          </a:solidFill>
          <a:ln w="12700">
            <a:solidFill>
              <a:schemeClr val="bg2"/>
            </a:solidFill>
            <a:prstDash val="solid"/>
          </a:ln>
        </p:spPr>
      </p:sp>
      <p:sp>
        <p:nvSpPr>
          <p:cNvPr id="26" name="Driver icon bg 3"/>
          <p:cNvSpPr/>
          <p:nvPr/>
        </p:nvSpPr>
        <p:spPr>
          <a:xfrm>
            <a:off x="6510528" y="1783080"/>
            <a:ext cx="548640" cy="548640"/>
          </a:xfrm>
          <a:prstGeom prst="ellipse">
            <a:avLst/>
          </a:prstGeom>
          <a:solidFill>
            <a:schemeClr val="tx2"/>
          </a:solidFill>
          <a:ln w="12700">
            <a:solidFill>
              <a:schemeClr val="tx2"/>
            </a:solidFill>
            <a:prstDash val="solid"/>
          </a:ln>
        </p:spPr>
      </p:sp>
      <p:pic>
        <p:nvPicPr>
          <p:cNvPr id="27" name="Image 2" descr="Security exposure">    </p:cNvPr>
          <p:cNvPicPr>
            <a:picLocks noChangeAspect="1"/>
          </p:cNvPicPr>
          <p:nvPr/>
        </p:nvPicPr>
        <p:blipFill>
          <a:blip r:embed="rId3"/>
          <a:stretch>
            <a:fillRect/>
          </a:stretch>
        </p:blipFill>
        <p:spPr>
          <a:xfrm>
            <a:off x="6647688" y="1920240"/>
            <a:ext cx="274320" cy="274320"/>
          </a:xfrm>
          <a:prstGeom prst="rect">
            <a:avLst/>
          </a:prstGeom>
        </p:spPr>
      </p:pic>
      <p:sp>
        <p:nvSpPr>
          <p:cNvPr id="28" name="Text 23"/>
          <p:cNvSpPr txBox="1"/>
          <p:nvPr/>
        </p:nvSpPr>
        <p:spPr>
          <a:xfrm>
            <a:off x="6510528" y="2468880"/>
            <a:ext cx="2148840" cy="548640"/>
          </a:xfrm>
          <a:prstGeom prst="rect">
            <a:avLst/>
          </a:prstGeom>
          <a:noFill/>
          <a:ln/>
        </p:spPr>
        <p:txBody>
          <a:bodyPr wrap="square" lIns="0" tIns="0" rIns="0" bIns="0" rtlCol="0" anchor="ctr"/>
          <a:lstStyle/>
          <a:p>
            <a:pPr indent="0" marL="0">
              <a:buNone/>
            </a:pPr>
            <a:r>
              <a:rPr lang="en-US" sz="2800" b="1" dirty="0">
                <a:solidFill>
                  <a:schemeClr val="accent3"/>
                </a:solidFill>
              </a:rPr>
              <a:t>CVEs</a:t>
            </a:r>
            <a:endParaRPr lang="en-US" sz="2800" dirty="0"/>
          </a:p>
        </p:txBody>
      </p:sp>
      <p:sp>
        <p:nvSpPr>
          <p:cNvPr id="29" name="Text 24"/>
          <p:cNvSpPr txBox="1"/>
          <p:nvPr/>
        </p:nvSpPr>
        <p:spPr>
          <a:xfrm>
            <a:off x="6510528" y="3044952"/>
            <a:ext cx="2057400" cy="320040"/>
          </a:xfrm>
          <a:prstGeom prst="rect">
            <a:avLst/>
          </a:prstGeom>
          <a:noFill/>
          <a:ln/>
        </p:spPr>
        <p:txBody>
          <a:bodyPr wrap="square" lIns="0" tIns="0" rIns="0" bIns="0" rtlCol="0" anchor="ctr"/>
          <a:lstStyle/>
          <a:p>
            <a:pPr indent="0" marL="0">
              <a:buNone/>
            </a:pPr>
            <a:r>
              <a:rPr lang="en-US" sz="1600" b="1" dirty="0">
                <a:solidFill>
                  <a:schemeClr val="tx1"/>
                </a:solidFill>
              </a:rPr>
              <a:t>Security exposure</a:t>
            </a:r>
            <a:endParaRPr lang="en-US" sz="1600" dirty="0"/>
          </a:p>
        </p:txBody>
      </p:sp>
      <p:sp>
        <p:nvSpPr>
          <p:cNvPr id="30" name="Text 25"/>
          <p:cNvSpPr txBox="1"/>
          <p:nvPr/>
        </p:nvSpPr>
        <p:spPr>
          <a:xfrm>
            <a:off x="6510528" y="3410712"/>
            <a:ext cx="2103120" cy="1325880"/>
          </a:xfrm>
          <a:prstGeom prst="rect">
            <a:avLst/>
          </a:prstGeom>
          <a:noFill/>
          <a:ln/>
        </p:spPr>
        <p:txBody>
          <a:bodyPr wrap="square" lIns="0" tIns="0" rIns="0" bIns="0" rtlCol="0" anchor="t"/>
          <a:lstStyle/>
          <a:p>
            <a:pPr indent="0" marL="0">
              <a:buNone/>
            </a:pPr>
            <a:r>
              <a:rPr lang="en-US" sz="1300" dirty="0">
                <a:solidFill>
                  <a:schemeClr val="tx1"/>
                </a:solidFill>
              </a:rPr>
              <a:t>Known flaws in 2.8.1 include CVE-2022-34917 (broker DoS) and CVE-2025-27819 (JAAS RCE), both CVSS 7.5.</a:t>
            </a:r>
            <a:endParaRPr lang="en-US" sz="1300" dirty="0"/>
          </a:p>
        </p:txBody>
      </p:sp>
      <p:sp>
        <p:nvSpPr>
          <p:cNvPr id="31" name="Driver 4"/>
          <p:cNvSpPr/>
          <p:nvPr/>
        </p:nvSpPr>
        <p:spPr>
          <a:xfrm>
            <a:off x="9125712" y="1508760"/>
            <a:ext cx="2606040" cy="3291840"/>
          </a:xfrm>
          <a:prstGeom prst="roundRect">
            <a:avLst>
              <a:gd name="adj" fmla="val 2807"/>
            </a:avLst>
          </a:prstGeom>
          <a:solidFill>
            <a:schemeClr val="bg2"/>
          </a:solidFill>
          <a:ln w="12700">
            <a:solidFill>
              <a:schemeClr val="bg2"/>
            </a:solidFill>
            <a:prstDash val="solid"/>
          </a:ln>
        </p:spPr>
      </p:sp>
      <p:sp>
        <p:nvSpPr>
          <p:cNvPr id="32" name="Driver icon bg 4"/>
          <p:cNvSpPr/>
          <p:nvPr/>
        </p:nvSpPr>
        <p:spPr>
          <a:xfrm>
            <a:off x="9400032" y="1783080"/>
            <a:ext cx="548640" cy="548640"/>
          </a:xfrm>
          <a:prstGeom prst="ellipse">
            <a:avLst/>
          </a:prstGeom>
          <a:solidFill>
            <a:schemeClr val="tx2"/>
          </a:solidFill>
          <a:ln w="12700">
            <a:solidFill>
              <a:schemeClr val="tx2"/>
            </a:solidFill>
            <a:prstDash val="solid"/>
          </a:ln>
        </p:spPr>
      </p:sp>
      <p:pic>
        <p:nvPicPr>
          <p:cNvPr id="33" name="Image 3" descr="Unsupported OS">    </p:cNvPr>
          <p:cNvPicPr>
            <a:picLocks noChangeAspect="1"/>
          </p:cNvPicPr>
          <p:nvPr/>
        </p:nvPicPr>
        <p:blipFill>
          <a:blip r:embed="rId4"/>
          <a:stretch>
            <a:fillRect/>
          </a:stretch>
        </p:blipFill>
        <p:spPr>
          <a:xfrm>
            <a:off x="9537192" y="1920240"/>
            <a:ext cx="274320" cy="274320"/>
          </a:xfrm>
          <a:prstGeom prst="rect">
            <a:avLst/>
          </a:prstGeom>
        </p:spPr>
      </p:pic>
      <p:sp>
        <p:nvSpPr>
          <p:cNvPr id="34" name="Text 28"/>
          <p:cNvSpPr txBox="1"/>
          <p:nvPr/>
        </p:nvSpPr>
        <p:spPr>
          <a:xfrm>
            <a:off x="9400032" y="2468880"/>
            <a:ext cx="2148840" cy="548640"/>
          </a:xfrm>
          <a:prstGeom prst="rect">
            <a:avLst/>
          </a:prstGeom>
          <a:noFill/>
          <a:ln/>
        </p:spPr>
        <p:txBody>
          <a:bodyPr wrap="square" lIns="0" tIns="0" rIns="0" bIns="0" rtlCol="0" anchor="ctr"/>
          <a:lstStyle/>
          <a:p>
            <a:pPr indent="0" marL="0">
              <a:buNone/>
            </a:pPr>
            <a:r>
              <a:rPr lang="en-US" sz="2800" b="1" dirty="0">
                <a:solidFill>
                  <a:schemeClr val="accent3"/>
                </a:solidFill>
              </a:rPr>
              <a:t>RHEL 7</a:t>
            </a:r>
            <a:endParaRPr lang="en-US" sz="2800" dirty="0"/>
          </a:p>
        </p:txBody>
      </p:sp>
      <p:sp>
        <p:nvSpPr>
          <p:cNvPr id="35" name="Text 29"/>
          <p:cNvSpPr txBox="1"/>
          <p:nvPr/>
        </p:nvSpPr>
        <p:spPr>
          <a:xfrm>
            <a:off x="9400032" y="3044952"/>
            <a:ext cx="2057400" cy="320040"/>
          </a:xfrm>
          <a:prstGeom prst="rect">
            <a:avLst/>
          </a:prstGeom>
          <a:noFill/>
          <a:ln/>
        </p:spPr>
        <p:txBody>
          <a:bodyPr wrap="square" lIns="0" tIns="0" rIns="0" bIns="0" rtlCol="0" anchor="ctr"/>
          <a:lstStyle/>
          <a:p>
            <a:pPr indent="0" marL="0">
              <a:buNone/>
            </a:pPr>
            <a:r>
              <a:rPr lang="en-US" sz="1600" b="1" dirty="0">
                <a:solidFill>
                  <a:schemeClr val="tx1"/>
                </a:solidFill>
              </a:rPr>
              <a:t>Unsupported OS</a:t>
            </a:r>
            <a:endParaRPr lang="en-US" sz="1600" dirty="0"/>
          </a:p>
        </p:txBody>
      </p:sp>
      <p:sp>
        <p:nvSpPr>
          <p:cNvPr id="36" name="Text 30"/>
          <p:cNvSpPr txBox="1"/>
          <p:nvPr/>
        </p:nvSpPr>
        <p:spPr>
          <a:xfrm>
            <a:off x="9400032" y="3410712"/>
            <a:ext cx="2103120" cy="1325880"/>
          </a:xfrm>
          <a:prstGeom prst="rect">
            <a:avLst/>
          </a:prstGeom>
          <a:noFill/>
          <a:ln/>
        </p:spPr>
        <p:txBody>
          <a:bodyPr wrap="square" lIns="0" tIns="0" rIns="0" bIns="0" rtlCol="0" anchor="t"/>
          <a:lstStyle/>
          <a:p>
            <a:pPr indent="0" marL="0">
              <a:buNone/>
            </a:pPr>
            <a:r>
              <a:rPr lang="en-US" sz="1300" dirty="0">
                <a:solidFill>
                  <a:schemeClr val="tx1"/>
                </a:solidFill>
              </a:rPr>
              <a:t>About 28 VMs (14 in PROD) at the start, some since migrated. Red Hat maintenance ended 30 Jun 2024.</a:t>
            </a:r>
            <a:endParaRPr lang="en-US" sz="1300" dirty="0"/>
          </a:p>
        </p:txBody>
      </p:sp>
      <p:sp>
        <p:nvSpPr>
          <p:cNvPr id="37" name="So what"/>
          <p:cNvSpPr/>
          <p:nvPr/>
        </p:nvSpPr>
        <p:spPr>
          <a:xfrm>
            <a:off x="457200" y="5029200"/>
            <a:ext cx="11274552" cy="1005840"/>
          </a:xfrm>
          <a:prstGeom prst="roundRect">
            <a:avLst>
              <a:gd name="adj" fmla="val 7273"/>
            </a:avLst>
          </a:prstGeom>
          <a:solidFill>
            <a:schemeClr val="tx2"/>
          </a:solidFill>
          <a:ln w="12700">
            <a:solidFill>
              <a:schemeClr val="tx2"/>
            </a:solidFill>
            <a:prstDash val="solid"/>
          </a:ln>
        </p:spPr>
      </p:sp>
      <p:sp>
        <p:nvSpPr>
          <p:cNvPr id="38" name="Text 32"/>
          <p:cNvSpPr txBox="1"/>
          <p:nvPr/>
        </p:nvSpPr>
        <p:spPr>
          <a:xfrm>
            <a:off x="731520" y="5029200"/>
            <a:ext cx="10789920" cy="1005840"/>
          </a:xfrm>
          <a:prstGeom prst="rect">
            <a:avLst/>
          </a:prstGeom>
          <a:noFill/>
          <a:ln/>
        </p:spPr>
        <p:txBody>
          <a:bodyPr wrap="square" lIns="0" tIns="0" rIns="0" bIns="0" rtlCol="0" anchor="ctr"/>
          <a:lstStyle/>
          <a:p>
            <a:pPr indent="0" marL="0">
              <a:buNone/>
            </a:pPr>
            <a:r>
              <a:rPr lang="en-US" sz="1500" b="1" dirty="0">
                <a:solidFill>
                  <a:schemeClr val="accent2"/>
                </a:solidFill>
              </a:rPr>
              <a:t>Why the audit comes first:  </a:t>
            </a:r>
            <a:pPr indent="0" marL="0">
              <a:buNone/>
            </a:pPr>
            <a:r>
              <a:rPr lang="en-US" sz="1500" dirty="0">
                <a:solidFill>
                  <a:schemeClr val="bg1"/>
                </a:solidFill>
              </a:rPr>
              <a:t>excess partitions are what slow failover today, and every topic we retire is one we do not have to upgrade, secure or migrate to BSP 2.0.</a:t>
            </a:r>
            <a:endParaRPr lang="en-US" sz="1500" dirty="0"/>
          </a:p>
        </p:txBody>
      </p:sp>
      <p:sp>
        <p:nvSpPr>
          <p:cNvPr id="25" name="Slide Number Placeholder 0"/>
          <p:cNvSpPr>
            <a:spLocks noGrp="1"/>
          </p:cNvSpPr>
          <p:nvPr>
            <p:ph type="sldNum" sz="quarter" idx="4294967295"/>
          </p:nvPr>
        </p:nvSpPr>
        <p:spPr>
          <a:xfrm>
            <a:off x="457200" y="6382512"/>
            <a:ext cx="3200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tep 1"/>
          <p:cNvSpPr/>
          <p:nvPr/>
        </p:nvSpPr>
        <p:spPr>
          <a:xfrm>
            <a:off x="457200" y="201168"/>
            <a:ext cx="2194560" cy="256032"/>
          </a:xfrm>
          <a:prstGeom prst="roundRect">
            <a:avLst>
              <a:gd name="adj" fmla="val 50000"/>
            </a:avLst>
          </a:prstGeom>
          <a:solidFill>
            <a:schemeClr val="bg2"/>
          </a:solidFill>
          <a:ln w="12700">
            <a:solidFill>
              <a:schemeClr val="bg2"/>
            </a:solidFill>
            <a:prstDash val="solid"/>
          </a:ln>
        </p:spPr>
      </p:sp>
      <p:sp>
        <p:nvSpPr>
          <p:cNvPr id="3" name="Text 1"/>
          <p:cNvSpPr txBox="1"/>
          <p:nvPr/>
        </p:nvSpPr>
        <p:spPr>
          <a:xfrm>
            <a:off x="457200" y="201168"/>
            <a:ext cx="2194560" cy="256032"/>
          </a:xfrm>
          <a:prstGeom prst="rect">
            <a:avLst/>
          </a:prstGeom>
          <a:noFill/>
          <a:ln/>
        </p:spPr>
        <p:txBody>
          <a:bodyPr wrap="square" lIns="0" tIns="0" rIns="0" bIns="0" rtlCol="0" anchor="ctr"/>
          <a:lstStyle/>
          <a:p>
            <a:pPr algn="ctr" indent="0" marL="0">
              <a:buNone/>
            </a:pPr>
            <a:r>
              <a:rPr lang="en-US" sz="950" dirty="0">
                <a:solidFill>
                  <a:schemeClr val="accent6"/>
                </a:solidFill>
              </a:rPr>
              <a:t>1  Why now · Business driver</a:t>
            </a:r>
            <a:endParaRPr lang="en-US" sz="950" dirty="0"/>
          </a:p>
        </p:txBody>
      </p:sp>
      <p:sp>
        <p:nvSpPr>
          <p:cNvPr id="4" name="Step 2"/>
          <p:cNvSpPr/>
          <p:nvPr/>
        </p:nvSpPr>
        <p:spPr>
          <a:xfrm>
            <a:off x="2761488" y="201168"/>
            <a:ext cx="2119579" cy="256032"/>
          </a:xfrm>
          <a:prstGeom prst="roundRect">
            <a:avLst>
              <a:gd name="adj" fmla="val 50000"/>
            </a:avLst>
          </a:prstGeom>
          <a:solidFill>
            <a:schemeClr val="tx2"/>
          </a:solidFill>
          <a:ln w="12700">
            <a:solidFill>
              <a:schemeClr val="tx2"/>
            </a:solidFill>
            <a:prstDash val="solid"/>
          </a:ln>
        </p:spPr>
      </p:sp>
      <p:sp>
        <p:nvSpPr>
          <p:cNvPr id="5" name="Text 3"/>
          <p:cNvSpPr txBox="1"/>
          <p:nvPr/>
        </p:nvSpPr>
        <p:spPr>
          <a:xfrm>
            <a:off x="2761488" y="201168"/>
            <a:ext cx="2119579" cy="256032"/>
          </a:xfrm>
          <a:prstGeom prst="rect">
            <a:avLst/>
          </a:prstGeom>
          <a:noFill/>
          <a:ln/>
        </p:spPr>
        <p:txBody>
          <a:bodyPr wrap="square" lIns="0" tIns="0" rIns="0" bIns="0" rtlCol="0" anchor="ctr"/>
          <a:lstStyle/>
          <a:p>
            <a:pPr algn="ctr" indent="0" marL="0">
              <a:buNone/>
            </a:pPr>
            <a:r>
              <a:rPr lang="en-US" sz="950" b="1" dirty="0">
                <a:solidFill>
                  <a:schemeClr val="bg1"/>
                </a:solidFill>
              </a:rPr>
              <a:t>2  The issue · Current risk</a:t>
            </a:r>
            <a:endParaRPr lang="en-US" sz="950" dirty="0"/>
          </a:p>
        </p:txBody>
      </p:sp>
      <p:sp>
        <p:nvSpPr>
          <p:cNvPr id="6" name="Step 3"/>
          <p:cNvSpPr/>
          <p:nvPr/>
        </p:nvSpPr>
        <p:spPr>
          <a:xfrm>
            <a:off x="4990795" y="201168"/>
            <a:ext cx="1744675" cy="256032"/>
          </a:xfrm>
          <a:prstGeom prst="roundRect">
            <a:avLst>
              <a:gd name="adj" fmla="val 50000"/>
            </a:avLst>
          </a:prstGeom>
          <a:solidFill>
            <a:schemeClr val="bg2"/>
          </a:solidFill>
          <a:ln w="12700">
            <a:solidFill>
              <a:schemeClr val="bg2"/>
            </a:solidFill>
            <a:prstDash val="solid"/>
          </a:ln>
        </p:spPr>
      </p:sp>
      <p:sp>
        <p:nvSpPr>
          <p:cNvPr id="7" name="Text 5"/>
          <p:cNvSpPr txBox="1"/>
          <p:nvPr/>
        </p:nvSpPr>
        <p:spPr>
          <a:xfrm>
            <a:off x="4990795" y="201168"/>
            <a:ext cx="1744675" cy="256032"/>
          </a:xfrm>
          <a:prstGeom prst="rect">
            <a:avLst/>
          </a:prstGeom>
          <a:noFill/>
          <a:ln/>
        </p:spPr>
        <p:txBody>
          <a:bodyPr wrap="square" lIns="0" tIns="0" rIns="0" bIns="0" rtlCol="0" anchor="ctr"/>
          <a:lstStyle/>
          <a:p>
            <a:pPr algn="ctr" indent="0" marL="0">
              <a:buNone/>
            </a:pPr>
            <a:r>
              <a:rPr lang="en-US" sz="950" dirty="0">
                <a:solidFill>
                  <a:schemeClr val="accent6"/>
                </a:solidFill>
              </a:rPr>
              <a:t>3  The measures · KPIs</a:t>
            </a:r>
            <a:endParaRPr lang="en-US" sz="950" dirty="0"/>
          </a:p>
        </p:txBody>
      </p:sp>
      <p:sp>
        <p:nvSpPr>
          <p:cNvPr id="8" name="Step 4"/>
          <p:cNvSpPr/>
          <p:nvPr/>
        </p:nvSpPr>
        <p:spPr>
          <a:xfrm>
            <a:off x="6845198" y="201168"/>
            <a:ext cx="1969618" cy="256032"/>
          </a:xfrm>
          <a:prstGeom prst="roundRect">
            <a:avLst>
              <a:gd name="adj" fmla="val 50000"/>
            </a:avLst>
          </a:prstGeom>
          <a:solidFill>
            <a:schemeClr val="bg2"/>
          </a:solidFill>
          <a:ln w="12700">
            <a:solidFill>
              <a:schemeClr val="bg2"/>
            </a:solidFill>
            <a:prstDash val="solid"/>
          </a:ln>
        </p:spPr>
      </p:sp>
      <p:sp>
        <p:nvSpPr>
          <p:cNvPr id="9" name="Text 7"/>
          <p:cNvSpPr txBox="1"/>
          <p:nvPr/>
        </p:nvSpPr>
        <p:spPr>
          <a:xfrm>
            <a:off x="6845198" y="201168"/>
            <a:ext cx="1969618" cy="256032"/>
          </a:xfrm>
          <a:prstGeom prst="rect">
            <a:avLst/>
          </a:prstGeom>
          <a:noFill/>
          <a:ln/>
        </p:spPr>
        <p:txBody>
          <a:bodyPr wrap="square" lIns="0" tIns="0" rIns="0" bIns="0" rtlCol="0" anchor="ctr"/>
          <a:lstStyle/>
          <a:p>
            <a:pPr algn="ctr" indent="0" marL="0">
              <a:buNone/>
            </a:pPr>
            <a:r>
              <a:rPr lang="en-US" sz="950" dirty="0">
                <a:solidFill>
                  <a:schemeClr val="accent6"/>
                </a:solidFill>
              </a:rPr>
              <a:t>4  The plan · Remediation</a:t>
            </a:r>
            <a:endParaRPr lang="en-US" sz="950" dirty="0"/>
          </a:p>
        </p:txBody>
      </p:sp>
      <p:sp>
        <p:nvSpPr>
          <p:cNvPr id="10" name="Step 5"/>
          <p:cNvSpPr/>
          <p:nvPr/>
        </p:nvSpPr>
        <p:spPr>
          <a:xfrm>
            <a:off x="8924544" y="201168"/>
            <a:ext cx="1969618" cy="256032"/>
          </a:xfrm>
          <a:prstGeom prst="roundRect">
            <a:avLst>
              <a:gd name="adj" fmla="val 50000"/>
            </a:avLst>
          </a:prstGeom>
          <a:solidFill>
            <a:schemeClr val="bg2"/>
          </a:solidFill>
          <a:ln w="12700">
            <a:solidFill>
              <a:schemeClr val="bg2"/>
            </a:solidFill>
            <a:prstDash val="solid"/>
          </a:ln>
        </p:spPr>
      </p:sp>
      <p:sp>
        <p:nvSpPr>
          <p:cNvPr id="11" name="Text 9"/>
          <p:cNvSpPr txBox="1"/>
          <p:nvPr/>
        </p:nvSpPr>
        <p:spPr>
          <a:xfrm>
            <a:off x="8924544" y="201168"/>
            <a:ext cx="1969618" cy="256032"/>
          </a:xfrm>
          <a:prstGeom prst="rect">
            <a:avLst/>
          </a:prstGeom>
          <a:noFill/>
          <a:ln/>
        </p:spPr>
        <p:txBody>
          <a:bodyPr wrap="square" lIns="0" tIns="0" rIns="0" bIns="0" rtlCol="0" anchor="ctr"/>
          <a:lstStyle/>
          <a:p>
            <a:pPr algn="ctr" indent="0" marL="0">
              <a:buNone/>
            </a:pPr>
            <a:r>
              <a:rPr lang="en-US" sz="950" dirty="0">
                <a:solidFill>
                  <a:schemeClr val="accent6"/>
                </a:solidFill>
              </a:rPr>
              <a:t>5  The timeline · Roadmap</a:t>
            </a:r>
            <a:endParaRPr lang="en-US" sz="950" dirty="0"/>
          </a:p>
        </p:txBody>
      </p:sp>
      <p:sp>
        <p:nvSpPr>
          <p:cNvPr id="12" name="Text 0"/>
          <p:cNvSpPr/>
          <p:nvPr>
            <p:ph idx="100" type="title" hasCustomPrompt="1"/>
          </p:nvPr>
        </p:nvSpPr>
        <p:spPr>
          <a:xfrm>
            <a:off x="457200" y="566928"/>
            <a:ext cx="11274552" cy="685800"/>
          </a:xfrm>
          <a:prstGeom prst="rect">
            <a:avLst/>
          </a:prstGeom>
          <a:noFill/>
          <a:ln/>
        </p:spPr>
        <p:txBody>
          <a:bodyPr wrap="square" lIns="0" tIns="0" rIns="0" bIns="0" rtlCol="0" anchor="t"/>
          <a:lstStyle/>
          <a:p>
            <a:pPr algn="l" indent="0" marL="0">
              <a:buNone/>
            </a:pPr>
            <a:r>
              <a:rPr lang="en-US" sz="2800" b="1" dirty="0">
                <a:solidFill>
                  <a:schemeClr val="tx1"/>
                </a:solidFill>
              </a:rPr>
              <a:t>The issue: partitions and memory are the constraint</a:t>
            </a:r>
            <a:endParaRPr lang="en-US" sz="2800" dirty="0"/>
          </a:p>
        </p:txBody>
      </p:sp>
      <p:sp>
        <p:nvSpPr>
          <p:cNvPr id="13" name="Stat 1"/>
          <p:cNvSpPr/>
          <p:nvPr/>
        </p:nvSpPr>
        <p:spPr>
          <a:xfrm>
            <a:off x="457200" y="1508760"/>
            <a:ext cx="4572000" cy="1024128"/>
          </a:xfrm>
          <a:prstGeom prst="roundRect">
            <a:avLst>
              <a:gd name="adj" fmla="val 7143"/>
            </a:avLst>
          </a:prstGeom>
          <a:solidFill>
            <a:schemeClr val="bg2"/>
          </a:solidFill>
          <a:ln w="12700">
            <a:solidFill>
              <a:schemeClr val="bg2"/>
            </a:solidFill>
            <a:prstDash val="solid"/>
          </a:ln>
        </p:spPr>
      </p:sp>
      <p:sp>
        <p:nvSpPr>
          <p:cNvPr id="14" name="Text 12"/>
          <p:cNvSpPr txBox="1"/>
          <p:nvPr/>
        </p:nvSpPr>
        <p:spPr>
          <a:xfrm>
            <a:off x="731520" y="1508760"/>
            <a:ext cx="1737360" cy="1024128"/>
          </a:xfrm>
          <a:prstGeom prst="rect">
            <a:avLst/>
          </a:prstGeom>
          <a:noFill/>
          <a:ln/>
        </p:spPr>
        <p:txBody>
          <a:bodyPr wrap="square" lIns="0" tIns="0" rIns="0" bIns="0" rtlCol="0" anchor="ctr"/>
          <a:lstStyle/>
          <a:p>
            <a:pPr indent="0" marL="0">
              <a:buNone/>
            </a:pPr>
            <a:r>
              <a:rPr lang="en-US" sz="3600" b="1" dirty="0">
                <a:solidFill>
                  <a:schemeClr val="accent3"/>
                </a:solidFill>
              </a:rPr>
              <a:t>226K</a:t>
            </a:r>
            <a:endParaRPr lang="en-US" sz="3600" dirty="0"/>
          </a:p>
        </p:txBody>
      </p:sp>
      <p:sp>
        <p:nvSpPr>
          <p:cNvPr id="15" name="Text 13"/>
          <p:cNvSpPr txBox="1"/>
          <p:nvPr/>
        </p:nvSpPr>
        <p:spPr>
          <a:xfrm>
            <a:off x="2514600" y="1508760"/>
            <a:ext cx="2423160" cy="1024128"/>
          </a:xfrm>
          <a:prstGeom prst="rect">
            <a:avLst/>
          </a:prstGeom>
          <a:noFill/>
          <a:ln/>
        </p:spPr>
        <p:txBody>
          <a:bodyPr wrap="square" lIns="0" tIns="0" rIns="0" bIns="0" rtlCol="0" anchor="ctr"/>
          <a:lstStyle/>
          <a:p>
            <a:pPr indent="0" marL="0">
              <a:buNone/>
            </a:pPr>
            <a:r>
              <a:rPr lang="en-US" sz="1500" b="1" dirty="0">
                <a:solidFill>
                  <a:schemeClr val="tx1"/>
                </a:solidFill>
              </a:rPr>
              <a:t>PROD partitions</a:t>
            </a:r>
            <a:endParaRPr lang="en-US" sz="1500" dirty="0"/>
          </a:p>
          <a:p>
            <a:pPr indent="0" marL="0">
              <a:buNone/>
            </a:pPr>
            <a:r>
              <a:rPr lang="en-US" sz="1300" dirty="0">
                <a:solidFill>
                  <a:schemeClr val="accent6"/>
                </a:solidFill>
              </a:rPr>
              <a:t>≈4.5K per broker on 50 brokers</a:t>
            </a:r>
            <a:endParaRPr lang="en-US" sz="1500" dirty="0"/>
          </a:p>
        </p:txBody>
      </p:sp>
      <p:sp>
        <p:nvSpPr>
          <p:cNvPr id="16" name="Stat 2"/>
          <p:cNvSpPr/>
          <p:nvPr/>
        </p:nvSpPr>
        <p:spPr>
          <a:xfrm>
            <a:off x="457200" y="2697480"/>
            <a:ext cx="4572000" cy="1024128"/>
          </a:xfrm>
          <a:prstGeom prst="roundRect">
            <a:avLst>
              <a:gd name="adj" fmla="val 7143"/>
            </a:avLst>
          </a:prstGeom>
          <a:solidFill>
            <a:schemeClr val="bg2"/>
          </a:solidFill>
          <a:ln w="12700">
            <a:solidFill>
              <a:schemeClr val="bg2"/>
            </a:solidFill>
            <a:prstDash val="solid"/>
          </a:ln>
        </p:spPr>
      </p:sp>
      <p:sp>
        <p:nvSpPr>
          <p:cNvPr id="17" name="Text 15"/>
          <p:cNvSpPr txBox="1"/>
          <p:nvPr/>
        </p:nvSpPr>
        <p:spPr>
          <a:xfrm>
            <a:off x="731520" y="2697480"/>
            <a:ext cx="1737360" cy="1024128"/>
          </a:xfrm>
          <a:prstGeom prst="rect">
            <a:avLst/>
          </a:prstGeom>
          <a:noFill/>
          <a:ln/>
        </p:spPr>
        <p:txBody>
          <a:bodyPr wrap="square" lIns="0" tIns="0" rIns="0" bIns="0" rtlCol="0" anchor="ctr"/>
          <a:lstStyle/>
          <a:p>
            <a:pPr indent="0" marL="0">
              <a:buNone/>
            </a:pPr>
            <a:r>
              <a:rPr lang="en-US" sz="3600" b="1" dirty="0">
                <a:solidFill>
                  <a:schemeClr val="accent3"/>
                </a:solidFill>
              </a:rPr>
              <a:t>694K</a:t>
            </a:r>
            <a:endParaRPr lang="en-US" sz="3600" dirty="0"/>
          </a:p>
        </p:txBody>
      </p:sp>
      <p:sp>
        <p:nvSpPr>
          <p:cNvPr id="18" name="Text 16"/>
          <p:cNvSpPr txBox="1"/>
          <p:nvPr/>
        </p:nvSpPr>
        <p:spPr>
          <a:xfrm>
            <a:off x="2514600" y="2697480"/>
            <a:ext cx="2423160" cy="1024128"/>
          </a:xfrm>
          <a:prstGeom prst="rect">
            <a:avLst/>
          </a:prstGeom>
          <a:noFill/>
          <a:ln/>
        </p:spPr>
        <p:txBody>
          <a:bodyPr wrap="square" lIns="0" tIns="0" rIns="0" bIns="0" rtlCol="0" anchor="ctr"/>
          <a:lstStyle/>
          <a:p>
            <a:pPr indent="0" marL="0">
              <a:buNone/>
            </a:pPr>
            <a:r>
              <a:rPr lang="en-US" sz="1500" b="1" dirty="0">
                <a:solidFill>
                  <a:schemeClr val="tx1"/>
                </a:solidFill>
              </a:rPr>
              <a:t>UAT partitions</a:t>
            </a:r>
            <a:endParaRPr lang="en-US" sz="1500" dirty="0"/>
          </a:p>
          <a:p>
            <a:pPr indent="0" marL="0">
              <a:buNone/>
            </a:pPr>
            <a:r>
              <a:rPr lang="en-US" sz="1300" dirty="0">
                <a:solidFill>
                  <a:schemeClr val="accent6"/>
                </a:solidFill>
              </a:rPr>
              <a:t>≈13.9K per broker – 3.5× guidance</a:t>
            </a:r>
            <a:endParaRPr lang="en-US" sz="1500" dirty="0"/>
          </a:p>
        </p:txBody>
      </p:sp>
      <p:sp>
        <p:nvSpPr>
          <p:cNvPr id="19" name="Stat 3"/>
          <p:cNvSpPr/>
          <p:nvPr/>
        </p:nvSpPr>
        <p:spPr>
          <a:xfrm>
            <a:off x="457200" y="3886200"/>
            <a:ext cx="4572000" cy="1024128"/>
          </a:xfrm>
          <a:prstGeom prst="roundRect">
            <a:avLst>
              <a:gd name="adj" fmla="val 7143"/>
            </a:avLst>
          </a:prstGeom>
          <a:solidFill>
            <a:schemeClr val="bg2"/>
          </a:solidFill>
          <a:ln w="12700">
            <a:solidFill>
              <a:schemeClr val="bg2"/>
            </a:solidFill>
            <a:prstDash val="solid"/>
          </a:ln>
        </p:spPr>
      </p:sp>
      <p:sp>
        <p:nvSpPr>
          <p:cNvPr id="20" name="Text 18"/>
          <p:cNvSpPr txBox="1"/>
          <p:nvPr/>
        </p:nvSpPr>
        <p:spPr>
          <a:xfrm>
            <a:off x="731520" y="3886200"/>
            <a:ext cx="1737360" cy="1024128"/>
          </a:xfrm>
          <a:prstGeom prst="rect">
            <a:avLst/>
          </a:prstGeom>
          <a:noFill/>
          <a:ln/>
        </p:spPr>
        <p:txBody>
          <a:bodyPr wrap="square" lIns="0" tIns="0" rIns="0" bIns="0" rtlCol="0" anchor="ctr"/>
          <a:lstStyle/>
          <a:p>
            <a:pPr indent="0" marL="0">
              <a:buNone/>
            </a:pPr>
            <a:r>
              <a:rPr lang="en-US" sz="3600" b="1" dirty="0">
                <a:solidFill>
                  <a:schemeClr val="accent3"/>
                </a:solidFill>
              </a:rPr>
              <a:t>90%</a:t>
            </a:r>
            <a:endParaRPr lang="en-US" sz="3600" dirty="0"/>
          </a:p>
        </p:txBody>
      </p:sp>
      <p:sp>
        <p:nvSpPr>
          <p:cNvPr id="21" name="Text 19"/>
          <p:cNvSpPr txBox="1"/>
          <p:nvPr/>
        </p:nvSpPr>
        <p:spPr>
          <a:xfrm>
            <a:off x="2514600" y="3886200"/>
            <a:ext cx="2423160" cy="1024128"/>
          </a:xfrm>
          <a:prstGeom prst="rect">
            <a:avLst/>
          </a:prstGeom>
          <a:noFill/>
          <a:ln/>
        </p:spPr>
        <p:txBody>
          <a:bodyPr wrap="square" lIns="0" tIns="0" rIns="0" bIns="0" rtlCol="0" anchor="ctr"/>
          <a:lstStyle/>
          <a:p>
            <a:pPr indent="0" marL="0">
              <a:buNone/>
            </a:pPr>
            <a:r>
              <a:rPr lang="en-US" sz="1500" b="1" dirty="0">
                <a:solidFill>
                  <a:schemeClr val="tx1"/>
                </a:solidFill>
              </a:rPr>
              <a:t>JVM heap, busiest brokers</a:t>
            </a:r>
            <a:endParaRPr lang="en-US" sz="1500" dirty="0"/>
          </a:p>
          <a:p>
            <a:pPr indent="0" marL="0">
              <a:buNone/>
            </a:pPr>
            <a:r>
              <a:rPr lang="en-US" sz="1300" dirty="0">
                <a:solidFill>
                  <a:schemeClr val="accent6"/>
                </a:solidFill>
              </a:rPr>
              <a:t>60–90% across PROD brokers</a:t>
            </a:r>
            <a:endParaRPr lang="en-US" sz="1500" dirty="0"/>
          </a:p>
        </p:txBody>
      </p:sp>
      <p:sp>
        <p:nvSpPr>
          <p:cNvPr id="22" name="Healthy signals"/>
          <p:cNvSpPr/>
          <p:nvPr/>
        </p:nvSpPr>
        <p:spPr>
          <a:xfrm>
            <a:off x="457200" y="5074920"/>
            <a:ext cx="4572000" cy="960120"/>
          </a:xfrm>
          <a:prstGeom prst="roundRect">
            <a:avLst>
              <a:gd name="adj" fmla="val 7619"/>
            </a:avLst>
          </a:prstGeom>
          <a:solidFill>
            <a:schemeClr val="bg1"/>
          </a:solidFill>
          <a:ln w="12700">
            <a:solidFill>
              <a:schemeClr val="bg1"/>
            </a:solidFill>
            <a:prstDash val="solid"/>
          </a:ln>
        </p:spPr>
      </p:sp>
      <p:sp>
        <p:nvSpPr>
          <p:cNvPr id="23" name="Healthy signals border"/>
          <p:cNvSpPr/>
          <p:nvPr/>
        </p:nvSpPr>
        <p:spPr>
          <a:xfrm>
            <a:off x="457200" y="5074920"/>
            <a:ext cx="4572000" cy="960120"/>
          </a:xfrm>
          <a:prstGeom prst="roundRect">
            <a:avLst>
              <a:gd name="adj" fmla="val 7619"/>
            </a:avLst>
          </a:prstGeom>
          <a:solidFill>
            <a:schemeClr val="bg1"/>
          </a:solidFill>
          <a:ln w="12700">
            <a:solidFill>
              <a:srgbClr val="CFE0EA"/>
            </a:solidFill>
            <a:prstDash val="solid"/>
          </a:ln>
        </p:spPr>
      </p:sp>
      <p:sp>
        <p:nvSpPr>
          <p:cNvPr id="24" name="Text 22"/>
          <p:cNvSpPr txBox="1"/>
          <p:nvPr/>
        </p:nvSpPr>
        <p:spPr>
          <a:xfrm>
            <a:off x="731520" y="5074920"/>
            <a:ext cx="4114800" cy="960120"/>
          </a:xfrm>
          <a:prstGeom prst="rect">
            <a:avLst/>
          </a:prstGeom>
          <a:noFill/>
          <a:ln/>
        </p:spPr>
        <p:txBody>
          <a:bodyPr wrap="square" lIns="0" tIns="0" rIns="0" bIns="0" rtlCol="0" anchor="ctr"/>
          <a:lstStyle/>
          <a:p>
            <a:pPr indent="0" marL="0">
              <a:buNone/>
            </a:pPr>
            <a:r>
              <a:rPr lang="en-US" sz="1400" b="1" dirty="0">
                <a:solidFill>
                  <a:schemeClr val="accent4"/>
                </a:solidFill>
              </a:rPr>
              <a:t>Not the constraint</a:t>
            </a:r>
            <a:endParaRPr lang="en-US" sz="1400" dirty="0"/>
          </a:p>
          <a:p>
            <a:pPr indent="0" marL="0">
              <a:buNone/>
            </a:pPr>
            <a:r>
              <a:rPr lang="en-US" sz="1300" dirty="0">
                <a:solidFill>
                  <a:schemeClr val="tx1"/>
                </a:solidFill>
              </a:rPr>
              <a:t>Storage ≈60%.  CPU ≈20%, peaks 40–50%.</a:t>
            </a:r>
            <a:endParaRPr lang="en-US" sz="1400" dirty="0"/>
          </a:p>
        </p:txBody>
      </p:sp>
      <p:sp>
        <p:nvSpPr>
          <p:cNvPr id="25" name="Text 23"/>
          <p:cNvSpPr txBox="1"/>
          <p:nvPr/>
        </p:nvSpPr>
        <p:spPr>
          <a:xfrm>
            <a:off x="5486400" y="1463040"/>
            <a:ext cx="6245352" cy="365760"/>
          </a:xfrm>
          <a:prstGeom prst="rect">
            <a:avLst/>
          </a:prstGeom>
          <a:noFill/>
          <a:ln/>
        </p:spPr>
        <p:txBody>
          <a:bodyPr wrap="square" lIns="0" tIns="0" rIns="0" bIns="0" rtlCol="0" anchor="ctr"/>
          <a:lstStyle/>
          <a:p>
            <a:pPr indent="0" marL="0">
              <a:buNone/>
            </a:pPr>
            <a:r>
              <a:rPr lang="en-US" sz="1600" b="1" dirty="0">
                <a:solidFill>
                  <a:schemeClr val="tx1"/>
                </a:solidFill>
              </a:rPr>
              <a:t>EMEA partitions per broker vs ZooKeeper-mode guidance</a:t>
            </a:r>
            <a:endParaRPr lang="en-US" sz="1600" dirty="0"/>
          </a:p>
        </p:txBody>
      </p:sp>
      <p:graphicFrame>
        <p:nvGraphicFramePr>
          <p:cNvPr id="26" name="Chart 0" descr=""/>
          <p:cNvGraphicFramePr/>
          <p:nvPr/>
        </p:nvGraphicFramePr>
        <p:xfrm>
          <a:off x="5486400" y="1783080"/>
          <a:ext cx="6245352" cy="1965960"/>
        </p:xfrm>
        <a:graphic xmlns:a="http://schemas.openxmlformats.org/drawingml/2006/main">
          <a:graphicData uri="http://schemas.openxmlformats.org/drawingml/2006/chart">
            <c:chart xmlns:c="http://schemas.openxmlformats.org/drawingml/2006/chart" r:id="rId1"/>
          </a:graphicData>
        </a:graphic>
      </p:graphicFrame>
      <p:sp>
        <p:nvSpPr>
          <p:cNvPr id="27" name="Growth velocity"/>
          <p:cNvSpPr/>
          <p:nvPr/>
        </p:nvSpPr>
        <p:spPr>
          <a:xfrm>
            <a:off x="5486400" y="3840480"/>
            <a:ext cx="6245352" cy="896112"/>
          </a:xfrm>
          <a:prstGeom prst="roundRect">
            <a:avLst>
              <a:gd name="adj" fmla="val 8163"/>
            </a:avLst>
          </a:prstGeom>
          <a:solidFill>
            <a:schemeClr val="bg2"/>
          </a:solidFill>
          <a:ln w="12700">
            <a:solidFill>
              <a:schemeClr val="bg2"/>
            </a:solidFill>
            <a:prstDash val="solid"/>
          </a:ln>
        </p:spPr>
      </p:sp>
      <p:sp>
        <p:nvSpPr>
          <p:cNvPr id="28" name="Text 25"/>
          <p:cNvSpPr txBox="1"/>
          <p:nvPr/>
        </p:nvSpPr>
        <p:spPr>
          <a:xfrm>
            <a:off x="5669280" y="3904488"/>
            <a:ext cx="1920240" cy="365760"/>
          </a:xfrm>
          <a:prstGeom prst="rect">
            <a:avLst/>
          </a:prstGeom>
          <a:noFill/>
          <a:ln/>
        </p:spPr>
        <p:txBody>
          <a:bodyPr wrap="square" lIns="0" tIns="0" rIns="0" bIns="0" rtlCol="0" anchor="ctr"/>
          <a:lstStyle/>
          <a:p>
            <a:pPr indent="0" marL="0">
              <a:buNone/>
            </a:pPr>
            <a:r>
              <a:rPr lang="en-US" sz="1900" b="1" dirty="0">
                <a:solidFill>
                  <a:schemeClr val="accent3"/>
                </a:solidFill>
              </a:rPr>
              <a:t>≈ +2K / week</a:t>
            </a:r>
            <a:endParaRPr lang="en-US" sz="1900" dirty="0"/>
          </a:p>
        </p:txBody>
      </p:sp>
      <p:sp>
        <p:nvSpPr>
          <p:cNvPr id="29" name="Text 26"/>
          <p:cNvSpPr txBox="1"/>
          <p:nvPr/>
        </p:nvSpPr>
        <p:spPr>
          <a:xfrm>
            <a:off x="5669280" y="4270248"/>
            <a:ext cx="1874520" cy="411480"/>
          </a:xfrm>
          <a:prstGeom prst="rect">
            <a:avLst/>
          </a:prstGeom>
          <a:noFill/>
          <a:ln/>
        </p:spPr>
        <p:txBody>
          <a:bodyPr wrap="square" lIns="0" tIns="0" rIns="0" bIns="0" rtlCol="0" anchor="t"/>
          <a:lstStyle/>
          <a:p>
            <a:pPr indent="0" marL="0">
              <a:buNone/>
            </a:pPr>
            <a:r>
              <a:rPr lang="en-US" sz="1050" dirty="0">
                <a:solidFill>
                  <a:schemeClr val="accent6"/>
                </a:solidFill>
              </a:rPr>
              <a:t>Grafana: ≈216K (15 Oct) → ≈220K (30 Oct)</a:t>
            </a:r>
            <a:endParaRPr lang="en-US" sz="1050" dirty="0"/>
          </a:p>
        </p:txBody>
      </p:sp>
      <p:sp>
        <p:nvSpPr>
          <p:cNvPr id="30" name="Text 27"/>
          <p:cNvSpPr txBox="1"/>
          <p:nvPr/>
        </p:nvSpPr>
        <p:spPr>
          <a:xfrm>
            <a:off x="7699248" y="3904488"/>
            <a:ext cx="1920240" cy="365760"/>
          </a:xfrm>
          <a:prstGeom prst="rect">
            <a:avLst/>
          </a:prstGeom>
          <a:noFill/>
          <a:ln/>
        </p:spPr>
        <p:txBody>
          <a:bodyPr wrap="square" lIns="0" tIns="0" rIns="0" bIns="0" rtlCol="0" anchor="ctr"/>
          <a:lstStyle/>
          <a:p>
            <a:pPr indent="0" marL="0">
              <a:buNone/>
            </a:pPr>
            <a:r>
              <a:rPr lang="en-US" sz="1900" b="1" dirty="0">
                <a:solidFill>
                  <a:schemeClr val="accent3"/>
                </a:solidFill>
              </a:rPr>
              <a:t>≈270 / day</a:t>
            </a:r>
            <a:endParaRPr lang="en-US" sz="1900" dirty="0"/>
          </a:p>
        </p:txBody>
      </p:sp>
      <p:sp>
        <p:nvSpPr>
          <p:cNvPr id="31" name="Text 28"/>
          <p:cNvSpPr txBox="1"/>
          <p:nvPr/>
        </p:nvSpPr>
        <p:spPr>
          <a:xfrm>
            <a:off x="7699248" y="4270248"/>
            <a:ext cx="1874520" cy="411480"/>
          </a:xfrm>
          <a:prstGeom prst="rect">
            <a:avLst/>
          </a:prstGeom>
          <a:noFill/>
          <a:ln/>
        </p:spPr>
        <p:txBody>
          <a:bodyPr wrap="square" lIns="0" tIns="0" rIns="0" bIns="0" rtlCol="0" anchor="t"/>
          <a:lstStyle/>
          <a:p>
            <a:pPr indent="0" marL="0">
              <a:buNone/>
            </a:pPr>
            <a:r>
              <a:rPr lang="en-US" sz="1050" dirty="0">
                <a:solidFill>
                  <a:schemeClr val="accent6"/>
                </a:solidFill>
              </a:rPr>
              <a:t>Net new PROD partitions, every day</a:t>
            </a:r>
            <a:endParaRPr lang="en-US" sz="1050" dirty="0"/>
          </a:p>
        </p:txBody>
      </p:sp>
      <p:sp>
        <p:nvSpPr>
          <p:cNvPr id="32" name="Text 29"/>
          <p:cNvSpPr txBox="1"/>
          <p:nvPr/>
        </p:nvSpPr>
        <p:spPr>
          <a:xfrm>
            <a:off x="9729216" y="3904488"/>
            <a:ext cx="1920240" cy="365760"/>
          </a:xfrm>
          <a:prstGeom prst="rect">
            <a:avLst/>
          </a:prstGeom>
          <a:noFill/>
          <a:ln/>
        </p:spPr>
        <p:txBody>
          <a:bodyPr wrap="square" lIns="0" tIns="0" rIns="0" bIns="0" rtlCol="0" anchor="ctr"/>
          <a:lstStyle/>
          <a:p>
            <a:pPr indent="0" marL="0">
              <a:buNone/>
            </a:pPr>
            <a:r>
              <a:rPr lang="en-US" sz="1900" b="1" dirty="0">
                <a:solidFill>
                  <a:schemeClr val="accent3"/>
                </a:solidFill>
              </a:rPr>
              <a:t>+20K</a:t>
            </a:r>
            <a:endParaRPr lang="en-US" sz="1900" dirty="0"/>
          </a:p>
        </p:txBody>
      </p:sp>
      <p:sp>
        <p:nvSpPr>
          <p:cNvPr id="33" name="Text 30"/>
          <p:cNvSpPr txBox="1"/>
          <p:nvPr/>
        </p:nvSpPr>
        <p:spPr>
          <a:xfrm>
            <a:off x="9729216" y="4270248"/>
            <a:ext cx="1874520" cy="411480"/>
          </a:xfrm>
          <a:prstGeom prst="rect">
            <a:avLst/>
          </a:prstGeom>
          <a:noFill/>
          <a:ln/>
        </p:spPr>
        <p:txBody>
          <a:bodyPr wrap="square" lIns="0" tIns="0" rIns="0" bIns="0" rtlCol="0" anchor="t"/>
          <a:lstStyle/>
          <a:p>
            <a:pPr indent="0" marL="0">
              <a:buNone/>
            </a:pPr>
            <a:r>
              <a:rPr lang="en-US" sz="1050" dirty="0">
                <a:solidFill>
                  <a:schemeClr val="accent6"/>
                </a:solidFill>
              </a:rPr>
              <a:t>More PROD partitions in 10 weeks if unchecked</a:t>
            </a:r>
            <a:endParaRPr lang="en-US" sz="1050" dirty="0"/>
          </a:p>
        </p:txBody>
      </p:sp>
      <p:sp>
        <p:nvSpPr>
          <p:cNvPr id="34" name="Text 31"/>
          <p:cNvSpPr txBox="1"/>
          <p:nvPr/>
        </p:nvSpPr>
        <p:spPr>
          <a:xfrm>
            <a:off x="5486400" y="4791456"/>
            <a:ext cx="6245352" cy="256032"/>
          </a:xfrm>
          <a:prstGeom prst="rect">
            <a:avLst/>
          </a:prstGeom>
          <a:noFill/>
          <a:ln/>
        </p:spPr>
        <p:txBody>
          <a:bodyPr wrap="square" lIns="0" tIns="0" rIns="0" bIns="0" rtlCol="0" anchor="ctr"/>
          <a:lstStyle/>
          <a:p>
            <a:pPr indent="0" marL="0">
              <a:buNone/>
            </a:pPr>
            <a:r>
              <a:rPr lang="en-US" sz="1100" dirty="0">
                <a:solidFill>
                  <a:schemeClr val="accent6"/>
                </a:solidFill>
              </a:rPr>
              <a:t>Guidance: ≤4,000 partitions per broker, ≤200,000 per cluster.</a:t>
            </a:r>
            <a:endParaRPr lang="en-US" sz="1100" dirty="0"/>
          </a:p>
        </p:txBody>
      </p:sp>
      <p:sp>
        <p:nvSpPr>
          <p:cNvPr id="35" name="Text 32"/>
          <p:cNvSpPr txBox="1"/>
          <p:nvPr/>
        </p:nvSpPr>
        <p:spPr>
          <a:xfrm>
            <a:off x="5486400" y="5120640"/>
            <a:ext cx="6245352" cy="1005840"/>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What we cannot see today</a:t>
            </a:r>
            <a:endParaRPr lang="en-US" sz="1300" dirty="0"/>
          </a:p>
          <a:p>
            <a:pPr marL="342900" indent="-342900">
              <a:spcAft>
                <a:spcPts val="200"/>
              </a:spcAft>
              <a:buSzPct val="100000"/>
              <a:buChar char="•"/>
            </a:pPr>
            <a:r>
              <a:rPr lang="en-US" sz="1300" dirty="0">
                <a:solidFill>
                  <a:schemeClr val="tx1"/>
                </a:solidFill>
              </a:rPr>
              <a:t>Topic-to-system-ID mapping, which blocks per-system network quotas</a:t>
            </a:r>
            <a:endParaRPr lang="en-US" sz="1300" dirty="0"/>
          </a:p>
          <a:p>
            <a:pPr marL="342900" indent="-342900">
              <a:spcAft>
                <a:spcPts val="200"/>
              </a:spcAft>
              <a:buSzPct val="100000"/>
              <a:buChar char="•"/>
            </a:pPr>
            <a:r>
              <a:rPr lang="en-US" sz="1300" dirty="0">
                <a:solidFill>
                  <a:schemeClr val="tx1"/>
                </a:solidFill>
              </a:rPr>
              <a:t>Which topics and partitions are dormant</a:t>
            </a:r>
            <a:endParaRPr lang="en-US" sz="1300" dirty="0"/>
          </a:p>
          <a:p>
            <a:pPr marL="342900" indent="-342900">
              <a:spcAft>
                <a:spcPts val="200"/>
              </a:spcAft>
              <a:buSzPct val="100000"/>
              <a:buChar char="•"/>
            </a:pPr>
            <a:r>
              <a:rPr lang="en-US" sz="1300" dirty="0">
                <a:solidFill>
                  <a:schemeClr val="tx1"/>
                </a:solidFill>
              </a:rPr>
              <a:t>How much of the JVM heap the partition count drives</a:t>
            </a:r>
            <a:endParaRPr lang="en-US" sz="1300" dirty="0"/>
          </a:p>
        </p:txBody>
      </p:sp>
      <p:sp>
        <p:nvSpPr>
          <p:cNvPr id="25" name="Slide Number Placeholder 0"/>
          <p:cNvSpPr>
            <a:spLocks noGrp="1"/>
          </p:cNvSpPr>
          <p:nvPr>
            <p:ph type="sldNum" sz="quarter" idx="4294967295"/>
          </p:nvPr>
        </p:nvSpPr>
        <p:spPr>
          <a:xfrm>
            <a:off x="457200" y="6382512"/>
            <a:ext cx="3200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tep 1"/>
          <p:cNvSpPr/>
          <p:nvPr/>
        </p:nvSpPr>
        <p:spPr>
          <a:xfrm>
            <a:off x="457200" y="201168"/>
            <a:ext cx="2194560" cy="256032"/>
          </a:xfrm>
          <a:prstGeom prst="roundRect">
            <a:avLst>
              <a:gd name="adj" fmla="val 50000"/>
            </a:avLst>
          </a:prstGeom>
          <a:solidFill>
            <a:schemeClr val="bg2"/>
          </a:solidFill>
          <a:ln w="12700">
            <a:solidFill>
              <a:schemeClr val="bg2"/>
            </a:solidFill>
            <a:prstDash val="solid"/>
          </a:ln>
        </p:spPr>
      </p:sp>
      <p:sp>
        <p:nvSpPr>
          <p:cNvPr id="3" name="Text 1"/>
          <p:cNvSpPr txBox="1"/>
          <p:nvPr/>
        </p:nvSpPr>
        <p:spPr>
          <a:xfrm>
            <a:off x="457200" y="201168"/>
            <a:ext cx="2194560" cy="256032"/>
          </a:xfrm>
          <a:prstGeom prst="rect">
            <a:avLst/>
          </a:prstGeom>
          <a:noFill/>
          <a:ln/>
        </p:spPr>
        <p:txBody>
          <a:bodyPr wrap="square" lIns="0" tIns="0" rIns="0" bIns="0" rtlCol="0" anchor="ctr"/>
          <a:lstStyle/>
          <a:p>
            <a:pPr algn="ctr" indent="0" marL="0">
              <a:buNone/>
            </a:pPr>
            <a:r>
              <a:rPr lang="en-US" sz="950" dirty="0">
                <a:solidFill>
                  <a:schemeClr val="accent6"/>
                </a:solidFill>
              </a:rPr>
              <a:t>1  Why now · Business driver</a:t>
            </a:r>
            <a:endParaRPr lang="en-US" sz="950" dirty="0"/>
          </a:p>
        </p:txBody>
      </p:sp>
      <p:sp>
        <p:nvSpPr>
          <p:cNvPr id="4" name="Step 2"/>
          <p:cNvSpPr/>
          <p:nvPr/>
        </p:nvSpPr>
        <p:spPr>
          <a:xfrm>
            <a:off x="2761488" y="201168"/>
            <a:ext cx="2119579" cy="256032"/>
          </a:xfrm>
          <a:prstGeom prst="roundRect">
            <a:avLst>
              <a:gd name="adj" fmla="val 50000"/>
            </a:avLst>
          </a:prstGeom>
          <a:solidFill>
            <a:schemeClr val="tx2"/>
          </a:solidFill>
          <a:ln w="12700">
            <a:solidFill>
              <a:schemeClr val="tx2"/>
            </a:solidFill>
            <a:prstDash val="solid"/>
          </a:ln>
        </p:spPr>
      </p:sp>
      <p:sp>
        <p:nvSpPr>
          <p:cNvPr id="5" name="Text 3"/>
          <p:cNvSpPr txBox="1"/>
          <p:nvPr/>
        </p:nvSpPr>
        <p:spPr>
          <a:xfrm>
            <a:off x="2761488" y="201168"/>
            <a:ext cx="2119579" cy="256032"/>
          </a:xfrm>
          <a:prstGeom prst="rect">
            <a:avLst/>
          </a:prstGeom>
          <a:noFill/>
          <a:ln/>
        </p:spPr>
        <p:txBody>
          <a:bodyPr wrap="square" lIns="0" tIns="0" rIns="0" bIns="0" rtlCol="0" anchor="ctr"/>
          <a:lstStyle/>
          <a:p>
            <a:pPr algn="ctr" indent="0" marL="0">
              <a:buNone/>
            </a:pPr>
            <a:r>
              <a:rPr lang="en-US" sz="950" b="1" dirty="0">
                <a:solidFill>
                  <a:schemeClr val="bg1"/>
                </a:solidFill>
              </a:rPr>
              <a:t>2  The issue · Current risk</a:t>
            </a:r>
            <a:endParaRPr lang="en-US" sz="950" dirty="0"/>
          </a:p>
        </p:txBody>
      </p:sp>
      <p:sp>
        <p:nvSpPr>
          <p:cNvPr id="6" name="Step 3"/>
          <p:cNvSpPr/>
          <p:nvPr/>
        </p:nvSpPr>
        <p:spPr>
          <a:xfrm>
            <a:off x="4990795" y="201168"/>
            <a:ext cx="1744675" cy="256032"/>
          </a:xfrm>
          <a:prstGeom prst="roundRect">
            <a:avLst>
              <a:gd name="adj" fmla="val 50000"/>
            </a:avLst>
          </a:prstGeom>
          <a:solidFill>
            <a:schemeClr val="bg2"/>
          </a:solidFill>
          <a:ln w="12700">
            <a:solidFill>
              <a:schemeClr val="bg2"/>
            </a:solidFill>
            <a:prstDash val="solid"/>
          </a:ln>
        </p:spPr>
      </p:sp>
      <p:sp>
        <p:nvSpPr>
          <p:cNvPr id="7" name="Text 5"/>
          <p:cNvSpPr txBox="1"/>
          <p:nvPr/>
        </p:nvSpPr>
        <p:spPr>
          <a:xfrm>
            <a:off x="4990795" y="201168"/>
            <a:ext cx="1744675" cy="256032"/>
          </a:xfrm>
          <a:prstGeom prst="rect">
            <a:avLst/>
          </a:prstGeom>
          <a:noFill/>
          <a:ln/>
        </p:spPr>
        <p:txBody>
          <a:bodyPr wrap="square" lIns="0" tIns="0" rIns="0" bIns="0" rtlCol="0" anchor="ctr"/>
          <a:lstStyle/>
          <a:p>
            <a:pPr algn="ctr" indent="0" marL="0">
              <a:buNone/>
            </a:pPr>
            <a:r>
              <a:rPr lang="en-US" sz="950" dirty="0">
                <a:solidFill>
                  <a:schemeClr val="accent6"/>
                </a:solidFill>
              </a:rPr>
              <a:t>3  The measures · KPIs</a:t>
            </a:r>
            <a:endParaRPr lang="en-US" sz="950" dirty="0"/>
          </a:p>
        </p:txBody>
      </p:sp>
      <p:sp>
        <p:nvSpPr>
          <p:cNvPr id="8" name="Step 4"/>
          <p:cNvSpPr/>
          <p:nvPr/>
        </p:nvSpPr>
        <p:spPr>
          <a:xfrm>
            <a:off x="6845198" y="201168"/>
            <a:ext cx="1969618" cy="256032"/>
          </a:xfrm>
          <a:prstGeom prst="roundRect">
            <a:avLst>
              <a:gd name="adj" fmla="val 50000"/>
            </a:avLst>
          </a:prstGeom>
          <a:solidFill>
            <a:schemeClr val="bg2"/>
          </a:solidFill>
          <a:ln w="12700">
            <a:solidFill>
              <a:schemeClr val="bg2"/>
            </a:solidFill>
            <a:prstDash val="solid"/>
          </a:ln>
        </p:spPr>
      </p:sp>
      <p:sp>
        <p:nvSpPr>
          <p:cNvPr id="9" name="Text 7"/>
          <p:cNvSpPr txBox="1"/>
          <p:nvPr/>
        </p:nvSpPr>
        <p:spPr>
          <a:xfrm>
            <a:off x="6845198" y="201168"/>
            <a:ext cx="1969618" cy="256032"/>
          </a:xfrm>
          <a:prstGeom prst="rect">
            <a:avLst/>
          </a:prstGeom>
          <a:noFill/>
          <a:ln/>
        </p:spPr>
        <p:txBody>
          <a:bodyPr wrap="square" lIns="0" tIns="0" rIns="0" bIns="0" rtlCol="0" anchor="ctr"/>
          <a:lstStyle/>
          <a:p>
            <a:pPr algn="ctr" indent="0" marL="0">
              <a:buNone/>
            </a:pPr>
            <a:r>
              <a:rPr lang="en-US" sz="950" dirty="0">
                <a:solidFill>
                  <a:schemeClr val="accent6"/>
                </a:solidFill>
              </a:rPr>
              <a:t>4  The plan · Remediation</a:t>
            </a:r>
            <a:endParaRPr lang="en-US" sz="950" dirty="0"/>
          </a:p>
        </p:txBody>
      </p:sp>
      <p:sp>
        <p:nvSpPr>
          <p:cNvPr id="10" name="Step 5"/>
          <p:cNvSpPr/>
          <p:nvPr/>
        </p:nvSpPr>
        <p:spPr>
          <a:xfrm>
            <a:off x="8924544" y="201168"/>
            <a:ext cx="1969618" cy="256032"/>
          </a:xfrm>
          <a:prstGeom prst="roundRect">
            <a:avLst>
              <a:gd name="adj" fmla="val 50000"/>
            </a:avLst>
          </a:prstGeom>
          <a:solidFill>
            <a:schemeClr val="bg2"/>
          </a:solidFill>
          <a:ln w="12700">
            <a:solidFill>
              <a:schemeClr val="bg2"/>
            </a:solidFill>
            <a:prstDash val="solid"/>
          </a:ln>
        </p:spPr>
      </p:sp>
      <p:sp>
        <p:nvSpPr>
          <p:cNvPr id="11" name="Text 9"/>
          <p:cNvSpPr txBox="1"/>
          <p:nvPr/>
        </p:nvSpPr>
        <p:spPr>
          <a:xfrm>
            <a:off x="8924544" y="201168"/>
            <a:ext cx="1969618" cy="256032"/>
          </a:xfrm>
          <a:prstGeom prst="rect">
            <a:avLst/>
          </a:prstGeom>
          <a:noFill/>
          <a:ln/>
        </p:spPr>
        <p:txBody>
          <a:bodyPr wrap="square" lIns="0" tIns="0" rIns="0" bIns="0" rtlCol="0" anchor="ctr"/>
          <a:lstStyle/>
          <a:p>
            <a:pPr algn="ctr" indent="0" marL="0">
              <a:buNone/>
            </a:pPr>
            <a:r>
              <a:rPr lang="en-US" sz="950" dirty="0">
                <a:solidFill>
                  <a:schemeClr val="accent6"/>
                </a:solidFill>
              </a:rPr>
              <a:t>5  The timeline · Roadmap</a:t>
            </a:r>
            <a:endParaRPr lang="en-US" sz="950" dirty="0"/>
          </a:p>
        </p:txBody>
      </p:sp>
      <p:sp>
        <p:nvSpPr>
          <p:cNvPr id="12" name="Text 0"/>
          <p:cNvSpPr/>
          <p:nvPr>
            <p:ph idx="100" type="title" hasCustomPrompt="1"/>
          </p:nvPr>
        </p:nvSpPr>
        <p:spPr>
          <a:xfrm>
            <a:off x="457200" y="566928"/>
            <a:ext cx="11274552" cy="685800"/>
          </a:xfrm>
          <a:prstGeom prst="rect">
            <a:avLst/>
          </a:prstGeom>
          <a:noFill/>
          <a:ln/>
        </p:spPr>
        <p:txBody>
          <a:bodyPr wrap="square" lIns="0" tIns="0" rIns="0" bIns="0" rtlCol="0" anchor="t"/>
          <a:lstStyle/>
          <a:p>
            <a:pPr algn="l" indent="0" marL="0">
              <a:buNone/>
            </a:pPr>
            <a:r>
              <a:rPr lang="en-US" sz="2800" b="1" dirty="0">
                <a:solidFill>
                  <a:schemeClr val="tx1"/>
                </a:solidFill>
              </a:rPr>
              <a:t>Across regions: EMEA is stretched, AMR capacity sits idle</a:t>
            </a:r>
            <a:endParaRPr lang="en-US" sz="2800" dirty="0"/>
          </a:p>
        </p:txBody>
      </p:sp>
      <p:sp>
        <p:nvSpPr>
          <p:cNvPr id="13" name="Region EMEA"/>
          <p:cNvSpPr/>
          <p:nvPr/>
        </p:nvSpPr>
        <p:spPr>
          <a:xfrm>
            <a:off x="457200" y="1508760"/>
            <a:ext cx="3566160" cy="3429000"/>
          </a:xfrm>
          <a:prstGeom prst="roundRect">
            <a:avLst>
              <a:gd name="adj" fmla="val 2133"/>
            </a:avLst>
          </a:prstGeom>
          <a:solidFill>
            <a:schemeClr val="bg2"/>
          </a:solidFill>
          <a:ln w="12700">
            <a:solidFill>
              <a:schemeClr val="bg2"/>
            </a:solidFill>
            <a:prstDash val="solid"/>
          </a:ln>
        </p:spPr>
      </p:sp>
      <p:sp>
        <p:nvSpPr>
          <p:cNvPr id="14" name="Text 12"/>
          <p:cNvSpPr txBox="1"/>
          <p:nvPr/>
        </p:nvSpPr>
        <p:spPr>
          <a:xfrm>
            <a:off x="731520" y="1737360"/>
            <a:ext cx="1463040" cy="457200"/>
          </a:xfrm>
          <a:prstGeom prst="rect">
            <a:avLst/>
          </a:prstGeom>
          <a:noFill/>
          <a:ln/>
        </p:spPr>
        <p:txBody>
          <a:bodyPr wrap="square" lIns="0" tIns="0" rIns="0" bIns="0" rtlCol="0" anchor="ctr"/>
          <a:lstStyle/>
          <a:p>
            <a:pPr indent="0" marL="0">
              <a:buNone/>
            </a:pPr>
            <a:r>
              <a:rPr lang="en-US" sz="2200" b="1" dirty="0">
                <a:solidFill>
                  <a:schemeClr val="tx1"/>
                </a:solidFill>
              </a:rPr>
              <a:t>EMEA</a:t>
            </a:r>
            <a:endParaRPr lang="en-US" sz="2200" dirty="0"/>
          </a:p>
        </p:txBody>
      </p:sp>
      <p:sp>
        <p:nvSpPr>
          <p:cNvPr id="15" name="Status EMEA"/>
          <p:cNvSpPr/>
          <p:nvPr/>
        </p:nvSpPr>
        <p:spPr>
          <a:xfrm>
            <a:off x="2331720" y="1783080"/>
            <a:ext cx="1417320" cy="347472"/>
          </a:xfrm>
          <a:prstGeom prst="roundRect">
            <a:avLst>
              <a:gd name="adj" fmla="val 50000"/>
            </a:avLst>
          </a:prstGeom>
          <a:solidFill>
            <a:schemeClr val="accent3"/>
          </a:solidFill>
          <a:ln w="12700">
            <a:solidFill>
              <a:schemeClr val="accent3"/>
            </a:solidFill>
            <a:prstDash val="solid"/>
          </a:ln>
        </p:spPr>
      </p:sp>
      <p:sp>
        <p:nvSpPr>
          <p:cNvPr id="16" name="Text 14"/>
          <p:cNvSpPr txBox="1"/>
          <p:nvPr/>
        </p:nvSpPr>
        <p:spPr>
          <a:xfrm>
            <a:off x="2331720" y="1783080"/>
            <a:ext cx="1417320" cy="347472"/>
          </a:xfrm>
          <a:prstGeom prst="rect">
            <a:avLst/>
          </a:prstGeom>
          <a:noFill/>
          <a:ln/>
        </p:spPr>
        <p:txBody>
          <a:bodyPr wrap="square" lIns="0" tIns="0" rIns="0" bIns="0" rtlCol="0" anchor="ctr"/>
          <a:lstStyle/>
          <a:p>
            <a:pPr algn="ctr" indent="0" marL="0">
              <a:buNone/>
            </a:pPr>
            <a:r>
              <a:rPr lang="en-US" sz="1100" b="1" dirty="0">
                <a:solidFill>
                  <a:schemeClr val="bg1"/>
                </a:solidFill>
              </a:rPr>
              <a:t>Under pressure</a:t>
            </a:r>
            <a:endParaRPr lang="en-US" sz="1100" dirty="0"/>
          </a:p>
        </p:txBody>
      </p:sp>
      <p:sp>
        <p:nvSpPr>
          <p:cNvPr id="17" name="Text 15"/>
          <p:cNvSpPr txBox="1"/>
          <p:nvPr/>
        </p:nvSpPr>
        <p:spPr>
          <a:xfrm>
            <a:off x="731520" y="2331720"/>
            <a:ext cx="1371600" cy="548640"/>
          </a:xfrm>
          <a:prstGeom prst="rect">
            <a:avLst/>
          </a:prstGeom>
          <a:noFill/>
          <a:ln/>
        </p:spPr>
        <p:txBody>
          <a:bodyPr wrap="square" lIns="0" tIns="0" rIns="0" bIns="0" rtlCol="0" anchor="ctr"/>
          <a:lstStyle/>
          <a:p>
            <a:pPr indent="0" marL="0">
              <a:buNone/>
            </a:pPr>
            <a:r>
              <a:rPr lang="en-US" sz="3200" b="1" dirty="0">
                <a:solidFill>
                  <a:schemeClr val="tx2"/>
                </a:solidFill>
              </a:rPr>
              <a:t>50</a:t>
            </a:r>
            <a:endParaRPr lang="en-US" sz="3200" dirty="0"/>
          </a:p>
        </p:txBody>
      </p:sp>
      <p:sp>
        <p:nvSpPr>
          <p:cNvPr id="18" name="Text 16"/>
          <p:cNvSpPr txBox="1"/>
          <p:nvPr/>
        </p:nvSpPr>
        <p:spPr>
          <a:xfrm>
            <a:off x="731520" y="2880360"/>
            <a:ext cx="1463040" cy="274320"/>
          </a:xfrm>
          <a:prstGeom prst="rect">
            <a:avLst/>
          </a:prstGeom>
          <a:noFill/>
          <a:ln/>
        </p:spPr>
        <p:txBody>
          <a:bodyPr wrap="square" lIns="0" tIns="0" rIns="0" bIns="0" rtlCol="0" anchor="ctr"/>
          <a:lstStyle/>
          <a:p>
            <a:pPr indent="0" marL="0">
              <a:buNone/>
            </a:pPr>
            <a:r>
              <a:rPr lang="en-US" sz="1200" dirty="0">
                <a:solidFill>
                  <a:schemeClr val="accent6"/>
                </a:solidFill>
              </a:rPr>
              <a:t>PROD brokers</a:t>
            </a:r>
            <a:endParaRPr lang="en-US" sz="1200" dirty="0"/>
          </a:p>
        </p:txBody>
      </p:sp>
      <p:sp>
        <p:nvSpPr>
          <p:cNvPr id="19" name="Text 17"/>
          <p:cNvSpPr txBox="1"/>
          <p:nvPr/>
        </p:nvSpPr>
        <p:spPr>
          <a:xfrm>
            <a:off x="2286000" y="2331720"/>
            <a:ext cx="1371600" cy="548640"/>
          </a:xfrm>
          <a:prstGeom prst="rect">
            <a:avLst/>
          </a:prstGeom>
          <a:noFill/>
          <a:ln/>
        </p:spPr>
        <p:txBody>
          <a:bodyPr wrap="square" lIns="0" tIns="0" rIns="0" bIns="0" rtlCol="0" anchor="ctr"/>
          <a:lstStyle/>
          <a:p>
            <a:pPr indent="0" marL="0">
              <a:buNone/>
            </a:pPr>
            <a:r>
              <a:rPr lang="en-US" sz="3200" b="1" dirty="0">
                <a:solidFill>
                  <a:schemeClr val="tx2"/>
                </a:solidFill>
              </a:rPr>
              <a:t>50</a:t>
            </a:r>
            <a:endParaRPr lang="en-US" sz="3200" dirty="0"/>
          </a:p>
        </p:txBody>
      </p:sp>
      <p:sp>
        <p:nvSpPr>
          <p:cNvPr id="20" name="Text 18"/>
          <p:cNvSpPr txBox="1"/>
          <p:nvPr/>
        </p:nvSpPr>
        <p:spPr>
          <a:xfrm>
            <a:off x="2286000" y="2880360"/>
            <a:ext cx="1463040" cy="274320"/>
          </a:xfrm>
          <a:prstGeom prst="rect">
            <a:avLst/>
          </a:prstGeom>
          <a:noFill/>
          <a:ln/>
        </p:spPr>
        <p:txBody>
          <a:bodyPr wrap="square" lIns="0" tIns="0" rIns="0" bIns="0" rtlCol="0" anchor="ctr"/>
          <a:lstStyle/>
          <a:p>
            <a:pPr indent="0" marL="0">
              <a:buNone/>
            </a:pPr>
            <a:r>
              <a:rPr lang="en-US" sz="1200" dirty="0">
                <a:solidFill>
                  <a:schemeClr val="accent6"/>
                </a:solidFill>
              </a:rPr>
              <a:t>UAT brokers</a:t>
            </a:r>
            <a:endParaRPr lang="en-US" sz="1200" dirty="0"/>
          </a:p>
        </p:txBody>
      </p:sp>
      <p:sp>
        <p:nvSpPr>
          <p:cNvPr id="21" name="Text 19"/>
          <p:cNvSpPr txBox="1"/>
          <p:nvPr/>
        </p:nvSpPr>
        <p:spPr>
          <a:xfrm>
            <a:off x="731520" y="3337560"/>
            <a:ext cx="3108960" cy="1508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Heaviest load: 226K PROD partitions</a:t>
            </a:r>
            <a:endParaRPr lang="en-US" sz="1300" dirty="0"/>
          </a:p>
          <a:p>
            <a:pPr marL="342900" indent="-342900">
              <a:spcAft>
                <a:spcPts val="600"/>
              </a:spcAft>
              <a:buSzPct val="100000"/>
              <a:buChar char="•"/>
            </a:pPr>
            <a:r>
              <a:rPr lang="en-US" sz="1300" dirty="0">
                <a:solidFill>
                  <a:schemeClr val="tx1"/>
                </a:solidFill>
              </a:rPr>
              <a:t>No spare VMs to add</a:t>
            </a:r>
            <a:endParaRPr lang="en-US" sz="1300" dirty="0"/>
          </a:p>
        </p:txBody>
      </p:sp>
      <p:sp>
        <p:nvSpPr>
          <p:cNvPr id="22" name="Region AMR"/>
          <p:cNvSpPr/>
          <p:nvPr/>
        </p:nvSpPr>
        <p:spPr>
          <a:xfrm>
            <a:off x="4311396" y="1508760"/>
            <a:ext cx="3566160" cy="3429000"/>
          </a:xfrm>
          <a:prstGeom prst="roundRect">
            <a:avLst>
              <a:gd name="adj" fmla="val 2133"/>
            </a:avLst>
          </a:prstGeom>
          <a:solidFill>
            <a:schemeClr val="bg2"/>
          </a:solidFill>
          <a:ln w="12700">
            <a:solidFill>
              <a:schemeClr val="bg2"/>
            </a:solidFill>
            <a:prstDash val="solid"/>
          </a:ln>
        </p:spPr>
      </p:sp>
      <p:sp>
        <p:nvSpPr>
          <p:cNvPr id="23" name="Text 21"/>
          <p:cNvSpPr txBox="1"/>
          <p:nvPr/>
        </p:nvSpPr>
        <p:spPr>
          <a:xfrm>
            <a:off x="4585716" y="1737360"/>
            <a:ext cx="1463040" cy="457200"/>
          </a:xfrm>
          <a:prstGeom prst="rect">
            <a:avLst/>
          </a:prstGeom>
          <a:noFill/>
          <a:ln/>
        </p:spPr>
        <p:txBody>
          <a:bodyPr wrap="square" lIns="0" tIns="0" rIns="0" bIns="0" rtlCol="0" anchor="ctr"/>
          <a:lstStyle/>
          <a:p>
            <a:pPr indent="0" marL="0">
              <a:buNone/>
            </a:pPr>
            <a:r>
              <a:rPr lang="en-US" sz="2200" b="1" dirty="0">
                <a:solidFill>
                  <a:schemeClr val="tx1"/>
                </a:solidFill>
              </a:rPr>
              <a:t>AMR</a:t>
            </a:r>
            <a:endParaRPr lang="en-US" sz="2200" dirty="0"/>
          </a:p>
        </p:txBody>
      </p:sp>
      <p:sp>
        <p:nvSpPr>
          <p:cNvPr id="24" name="Status AMR"/>
          <p:cNvSpPr/>
          <p:nvPr/>
        </p:nvSpPr>
        <p:spPr>
          <a:xfrm>
            <a:off x="6185916" y="1783080"/>
            <a:ext cx="1417320" cy="347472"/>
          </a:xfrm>
          <a:prstGeom prst="roundRect">
            <a:avLst>
              <a:gd name="adj" fmla="val 50000"/>
            </a:avLst>
          </a:prstGeom>
          <a:solidFill>
            <a:schemeClr val="accent5"/>
          </a:solidFill>
          <a:ln w="12700">
            <a:solidFill>
              <a:schemeClr val="accent5"/>
            </a:solidFill>
            <a:prstDash val="solid"/>
          </a:ln>
        </p:spPr>
      </p:sp>
      <p:sp>
        <p:nvSpPr>
          <p:cNvPr id="25" name="Text 23"/>
          <p:cNvSpPr txBox="1"/>
          <p:nvPr/>
        </p:nvSpPr>
        <p:spPr>
          <a:xfrm>
            <a:off x="6185916" y="1783080"/>
            <a:ext cx="1417320" cy="347472"/>
          </a:xfrm>
          <a:prstGeom prst="rect">
            <a:avLst/>
          </a:prstGeom>
          <a:noFill/>
          <a:ln/>
        </p:spPr>
        <p:txBody>
          <a:bodyPr wrap="square" lIns="0" tIns="0" rIns="0" bIns="0" rtlCol="0" anchor="ctr"/>
          <a:lstStyle/>
          <a:p>
            <a:pPr algn="ctr" indent="0" marL="0">
              <a:buNone/>
            </a:pPr>
            <a:r>
              <a:rPr lang="en-US" sz="1100" b="1" dirty="0">
                <a:solidFill>
                  <a:schemeClr val="bg1"/>
                </a:solidFill>
              </a:rPr>
              <a:t>Idle capacity</a:t>
            </a:r>
            <a:endParaRPr lang="en-US" sz="1100" dirty="0"/>
          </a:p>
        </p:txBody>
      </p:sp>
      <p:sp>
        <p:nvSpPr>
          <p:cNvPr id="26" name="Text 24"/>
          <p:cNvSpPr txBox="1"/>
          <p:nvPr/>
        </p:nvSpPr>
        <p:spPr>
          <a:xfrm>
            <a:off x="4585716" y="2331720"/>
            <a:ext cx="1371600" cy="548640"/>
          </a:xfrm>
          <a:prstGeom prst="rect">
            <a:avLst/>
          </a:prstGeom>
          <a:noFill/>
          <a:ln/>
        </p:spPr>
        <p:txBody>
          <a:bodyPr wrap="square" lIns="0" tIns="0" rIns="0" bIns="0" rtlCol="0" anchor="ctr"/>
          <a:lstStyle/>
          <a:p>
            <a:pPr indent="0" marL="0">
              <a:buNone/>
            </a:pPr>
            <a:r>
              <a:rPr lang="en-US" sz="3200" b="1" dirty="0">
                <a:solidFill>
                  <a:schemeClr val="tx2"/>
                </a:solidFill>
              </a:rPr>
              <a:t>12</a:t>
            </a:r>
            <a:endParaRPr lang="en-US" sz="3200" dirty="0"/>
          </a:p>
        </p:txBody>
      </p:sp>
      <p:sp>
        <p:nvSpPr>
          <p:cNvPr id="27" name="Text 25"/>
          <p:cNvSpPr txBox="1"/>
          <p:nvPr/>
        </p:nvSpPr>
        <p:spPr>
          <a:xfrm>
            <a:off x="4585716" y="2880360"/>
            <a:ext cx="1463040" cy="274320"/>
          </a:xfrm>
          <a:prstGeom prst="rect">
            <a:avLst/>
          </a:prstGeom>
          <a:noFill/>
          <a:ln/>
        </p:spPr>
        <p:txBody>
          <a:bodyPr wrap="square" lIns="0" tIns="0" rIns="0" bIns="0" rtlCol="0" anchor="ctr"/>
          <a:lstStyle/>
          <a:p>
            <a:pPr indent="0" marL="0">
              <a:buNone/>
            </a:pPr>
            <a:r>
              <a:rPr lang="en-US" sz="1200" dirty="0">
                <a:solidFill>
                  <a:schemeClr val="accent6"/>
                </a:solidFill>
              </a:rPr>
              <a:t>PROD brokers</a:t>
            </a:r>
            <a:endParaRPr lang="en-US" sz="1200" dirty="0"/>
          </a:p>
        </p:txBody>
      </p:sp>
      <p:sp>
        <p:nvSpPr>
          <p:cNvPr id="28" name="Text 26"/>
          <p:cNvSpPr txBox="1"/>
          <p:nvPr/>
        </p:nvSpPr>
        <p:spPr>
          <a:xfrm>
            <a:off x="6140196" y="2331720"/>
            <a:ext cx="1371600" cy="548640"/>
          </a:xfrm>
          <a:prstGeom prst="rect">
            <a:avLst/>
          </a:prstGeom>
          <a:noFill/>
          <a:ln/>
        </p:spPr>
        <p:txBody>
          <a:bodyPr wrap="square" lIns="0" tIns="0" rIns="0" bIns="0" rtlCol="0" anchor="ctr"/>
          <a:lstStyle/>
          <a:p>
            <a:pPr indent="0" marL="0">
              <a:buNone/>
            </a:pPr>
            <a:r>
              <a:rPr lang="en-US" sz="3200" b="1" dirty="0">
                <a:solidFill>
                  <a:schemeClr val="tx2"/>
                </a:solidFill>
              </a:rPr>
              <a:t>36</a:t>
            </a:r>
            <a:endParaRPr lang="en-US" sz="3200" dirty="0"/>
          </a:p>
        </p:txBody>
      </p:sp>
      <p:sp>
        <p:nvSpPr>
          <p:cNvPr id="29" name="Text 27"/>
          <p:cNvSpPr txBox="1"/>
          <p:nvPr/>
        </p:nvSpPr>
        <p:spPr>
          <a:xfrm>
            <a:off x="6140196" y="2880360"/>
            <a:ext cx="1463040" cy="274320"/>
          </a:xfrm>
          <a:prstGeom prst="rect">
            <a:avLst/>
          </a:prstGeom>
          <a:noFill/>
          <a:ln/>
        </p:spPr>
        <p:txBody>
          <a:bodyPr wrap="square" lIns="0" tIns="0" rIns="0" bIns="0" rtlCol="0" anchor="ctr"/>
          <a:lstStyle/>
          <a:p>
            <a:pPr indent="0" marL="0">
              <a:buNone/>
            </a:pPr>
            <a:r>
              <a:rPr lang="en-US" sz="1200" dirty="0">
                <a:solidFill>
                  <a:schemeClr val="accent6"/>
                </a:solidFill>
              </a:rPr>
              <a:t>UAT brokers</a:t>
            </a:r>
            <a:endParaRPr lang="en-US" sz="1200" dirty="0"/>
          </a:p>
        </p:txBody>
      </p:sp>
      <p:sp>
        <p:nvSpPr>
          <p:cNvPr id="30" name="Text 28"/>
          <p:cNvSpPr txBox="1"/>
          <p:nvPr/>
        </p:nvSpPr>
        <p:spPr>
          <a:xfrm>
            <a:off x="4585716" y="3337560"/>
            <a:ext cx="3108960" cy="1508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PROD needs expansion to match UAT</a:t>
            </a:r>
            <a:endParaRPr lang="en-US" sz="1300" dirty="0"/>
          </a:p>
          <a:p>
            <a:pPr marL="342900" indent="-342900">
              <a:spcAft>
                <a:spcPts val="600"/>
              </a:spcAft>
              <a:buSzPct val="100000"/>
              <a:buChar char="•"/>
            </a:pPr>
            <a:r>
              <a:rPr lang="en-US" sz="1300" dirty="0">
                <a:solidFill>
                  <a:schemeClr val="tx1"/>
                </a:solidFill>
              </a:rPr>
              <a:t>24 VMs procured for PROD, idle ~2 years</a:t>
            </a:r>
            <a:endParaRPr lang="en-US" sz="1300" dirty="0"/>
          </a:p>
          <a:p>
            <a:pPr marL="342900" indent="-342900">
              <a:spcAft>
                <a:spcPts val="600"/>
              </a:spcAft>
              <a:buSzPct val="100000"/>
              <a:buChar char="•"/>
            </a:pPr>
            <a:r>
              <a:rPr lang="en-US" sz="1300" dirty="0">
                <a:solidFill>
                  <a:schemeClr val="tx1"/>
                </a:solidFill>
              </a:rPr>
              <a:t>New broker requests risk the same fate</a:t>
            </a:r>
            <a:endParaRPr lang="en-US" sz="1300" dirty="0"/>
          </a:p>
        </p:txBody>
      </p:sp>
      <p:sp>
        <p:nvSpPr>
          <p:cNvPr id="31" name="Region APAC"/>
          <p:cNvSpPr/>
          <p:nvPr/>
        </p:nvSpPr>
        <p:spPr>
          <a:xfrm>
            <a:off x="8165592" y="1508760"/>
            <a:ext cx="3566160" cy="3429000"/>
          </a:xfrm>
          <a:prstGeom prst="roundRect">
            <a:avLst>
              <a:gd name="adj" fmla="val 2133"/>
            </a:avLst>
          </a:prstGeom>
          <a:solidFill>
            <a:schemeClr val="bg2"/>
          </a:solidFill>
          <a:ln w="12700">
            <a:solidFill>
              <a:schemeClr val="bg2"/>
            </a:solidFill>
            <a:prstDash val="solid"/>
          </a:ln>
        </p:spPr>
      </p:sp>
      <p:sp>
        <p:nvSpPr>
          <p:cNvPr id="32" name="Text 30"/>
          <p:cNvSpPr txBox="1"/>
          <p:nvPr/>
        </p:nvSpPr>
        <p:spPr>
          <a:xfrm>
            <a:off x="8439912" y="1737360"/>
            <a:ext cx="1463040" cy="457200"/>
          </a:xfrm>
          <a:prstGeom prst="rect">
            <a:avLst/>
          </a:prstGeom>
          <a:noFill/>
          <a:ln/>
        </p:spPr>
        <p:txBody>
          <a:bodyPr wrap="square" lIns="0" tIns="0" rIns="0" bIns="0" rtlCol="0" anchor="ctr"/>
          <a:lstStyle/>
          <a:p>
            <a:pPr indent="0" marL="0">
              <a:buNone/>
            </a:pPr>
            <a:r>
              <a:rPr lang="en-US" sz="2200" b="1" dirty="0">
                <a:solidFill>
                  <a:schemeClr val="tx1"/>
                </a:solidFill>
              </a:rPr>
              <a:t>APAC</a:t>
            </a:r>
            <a:endParaRPr lang="en-US" sz="2200" dirty="0"/>
          </a:p>
        </p:txBody>
      </p:sp>
      <p:sp>
        <p:nvSpPr>
          <p:cNvPr id="33" name="Status APAC"/>
          <p:cNvSpPr/>
          <p:nvPr/>
        </p:nvSpPr>
        <p:spPr>
          <a:xfrm>
            <a:off x="10040112" y="1783080"/>
            <a:ext cx="1417320" cy="347472"/>
          </a:xfrm>
          <a:prstGeom prst="roundRect">
            <a:avLst>
              <a:gd name="adj" fmla="val 50000"/>
            </a:avLst>
          </a:prstGeom>
          <a:solidFill>
            <a:schemeClr val="accent4"/>
          </a:solidFill>
          <a:ln w="12700">
            <a:solidFill>
              <a:schemeClr val="accent4"/>
            </a:solidFill>
            <a:prstDash val="solid"/>
          </a:ln>
        </p:spPr>
      </p:sp>
      <p:sp>
        <p:nvSpPr>
          <p:cNvPr id="34" name="Text 32"/>
          <p:cNvSpPr txBox="1"/>
          <p:nvPr/>
        </p:nvSpPr>
        <p:spPr>
          <a:xfrm>
            <a:off x="10040112" y="1783080"/>
            <a:ext cx="1417320" cy="347472"/>
          </a:xfrm>
          <a:prstGeom prst="rect">
            <a:avLst/>
          </a:prstGeom>
          <a:noFill/>
          <a:ln/>
        </p:spPr>
        <p:txBody>
          <a:bodyPr wrap="square" lIns="0" tIns="0" rIns="0" bIns="0" rtlCol="0" anchor="ctr"/>
          <a:lstStyle/>
          <a:p>
            <a:pPr algn="ctr" indent="0" marL="0">
              <a:buNone/>
            </a:pPr>
            <a:r>
              <a:rPr lang="en-US" sz="1100" b="1" dirty="0">
                <a:solidFill>
                  <a:schemeClr val="bg1"/>
                </a:solidFill>
              </a:rPr>
              <a:t>Low traffic</a:t>
            </a:r>
            <a:endParaRPr lang="en-US" sz="1100" dirty="0"/>
          </a:p>
        </p:txBody>
      </p:sp>
      <p:sp>
        <p:nvSpPr>
          <p:cNvPr id="35" name="Text 33"/>
          <p:cNvSpPr txBox="1"/>
          <p:nvPr/>
        </p:nvSpPr>
        <p:spPr>
          <a:xfrm>
            <a:off x="8439912" y="2331720"/>
            <a:ext cx="1371600" cy="548640"/>
          </a:xfrm>
          <a:prstGeom prst="rect">
            <a:avLst/>
          </a:prstGeom>
          <a:noFill/>
          <a:ln/>
        </p:spPr>
        <p:txBody>
          <a:bodyPr wrap="square" lIns="0" tIns="0" rIns="0" bIns="0" rtlCol="0" anchor="ctr"/>
          <a:lstStyle/>
          <a:p>
            <a:pPr indent="0" marL="0">
              <a:buNone/>
            </a:pPr>
            <a:r>
              <a:rPr lang="en-US" sz="3200" b="1" dirty="0">
                <a:solidFill>
                  <a:schemeClr val="tx2"/>
                </a:solidFill>
              </a:rPr>
              <a:t>12</a:t>
            </a:r>
            <a:endParaRPr lang="en-US" sz="3200" dirty="0"/>
          </a:p>
        </p:txBody>
      </p:sp>
      <p:sp>
        <p:nvSpPr>
          <p:cNvPr id="36" name="Text 34"/>
          <p:cNvSpPr txBox="1"/>
          <p:nvPr/>
        </p:nvSpPr>
        <p:spPr>
          <a:xfrm>
            <a:off x="8439912" y="2880360"/>
            <a:ext cx="1463040" cy="274320"/>
          </a:xfrm>
          <a:prstGeom prst="rect">
            <a:avLst/>
          </a:prstGeom>
          <a:noFill/>
          <a:ln/>
        </p:spPr>
        <p:txBody>
          <a:bodyPr wrap="square" lIns="0" tIns="0" rIns="0" bIns="0" rtlCol="0" anchor="ctr"/>
          <a:lstStyle/>
          <a:p>
            <a:pPr indent="0" marL="0">
              <a:buNone/>
            </a:pPr>
            <a:r>
              <a:rPr lang="en-US" sz="1200" dirty="0">
                <a:solidFill>
                  <a:schemeClr val="accent6"/>
                </a:solidFill>
              </a:rPr>
              <a:t>PROD brokers</a:t>
            </a:r>
            <a:endParaRPr lang="en-US" sz="1200" dirty="0"/>
          </a:p>
        </p:txBody>
      </p:sp>
      <p:sp>
        <p:nvSpPr>
          <p:cNvPr id="37" name="Text 35"/>
          <p:cNvSpPr txBox="1"/>
          <p:nvPr/>
        </p:nvSpPr>
        <p:spPr>
          <a:xfrm>
            <a:off x="9994392" y="2331720"/>
            <a:ext cx="1371600" cy="548640"/>
          </a:xfrm>
          <a:prstGeom prst="rect">
            <a:avLst/>
          </a:prstGeom>
          <a:noFill/>
          <a:ln/>
        </p:spPr>
        <p:txBody>
          <a:bodyPr wrap="square" lIns="0" tIns="0" rIns="0" bIns="0" rtlCol="0" anchor="ctr"/>
          <a:lstStyle/>
          <a:p>
            <a:pPr indent="0" marL="0">
              <a:buNone/>
            </a:pPr>
            <a:r>
              <a:rPr lang="en-US" sz="3200" b="1" dirty="0">
                <a:solidFill>
                  <a:schemeClr val="tx2"/>
                </a:solidFill>
              </a:rPr>
              <a:t>28</a:t>
            </a:r>
            <a:endParaRPr lang="en-US" sz="3200" dirty="0"/>
          </a:p>
        </p:txBody>
      </p:sp>
      <p:sp>
        <p:nvSpPr>
          <p:cNvPr id="38" name="Text 36"/>
          <p:cNvSpPr txBox="1"/>
          <p:nvPr/>
        </p:nvSpPr>
        <p:spPr>
          <a:xfrm>
            <a:off x="9994392" y="2880360"/>
            <a:ext cx="1463040" cy="274320"/>
          </a:xfrm>
          <a:prstGeom prst="rect">
            <a:avLst/>
          </a:prstGeom>
          <a:noFill/>
          <a:ln/>
        </p:spPr>
        <p:txBody>
          <a:bodyPr wrap="square" lIns="0" tIns="0" rIns="0" bIns="0" rtlCol="0" anchor="ctr"/>
          <a:lstStyle/>
          <a:p>
            <a:pPr indent="0" marL="0">
              <a:buNone/>
            </a:pPr>
            <a:r>
              <a:rPr lang="en-US" sz="1200" dirty="0">
                <a:solidFill>
                  <a:schemeClr val="accent6"/>
                </a:solidFill>
              </a:rPr>
              <a:t>UAT brokers</a:t>
            </a:r>
            <a:endParaRPr lang="en-US" sz="1200" dirty="0"/>
          </a:p>
        </p:txBody>
      </p:sp>
      <p:sp>
        <p:nvSpPr>
          <p:cNvPr id="39" name="Text 37"/>
          <p:cNvSpPr txBox="1"/>
          <p:nvPr/>
        </p:nvSpPr>
        <p:spPr>
          <a:xfrm>
            <a:off x="8439912" y="3337560"/>
            <a:ext cx="3108960" cy="1508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12 PROD VMs are sufficient today</a:t>
            </a:r>
            <a:endParaRPr lang="en-US" sz="1300" dirty="0"/>
          </a:p>
          <a:p>
            <a:pPr marL="342900" indent="-342900">
              <a:spcAft>
                <a:spcPts val="600"/>
              </a:spcAft>
              <a:buSzPct val="100000"/>
              <a:buChar char="•"/>
            </a:pPr>
            <a:r>
              <a:rPr lang="en-US" sz="1300" dirty="0">
                <a:solidFill>
                  <a:schemeClr val="tx1"/>
                </a:solidFill>
              </a:rPr>
              <a:t>PROD expansion planned, no clear benefit</a:t>
            </a:r>
            <a:endParaRPr lang="en-US" sz="1300" dirty="0"/>
          </a:p>
          <a:p>
            <a:pPr marL="342900" indent="-342900">
              <a:spcAft>
                <a:spcPts val="600"/>
              </a:spcAft>
              <a:buSzPct val="100000"/>
              <a:buChar char="•"/>
            </a:pPr>
            <a:r>
              <a:rPr lang="en-US" sz="1300" dirty="0">
                <a:solidFill>
                  <a:schemeClr val="tx1"/>
                </a:solidFill>
              </a:rPr>
              <a:t>Status of VM requests unconfirmed</a:t>
            </a:r>
            <a:endParaRPr lang="en-US" sz="1300" dirty="0"/>
          </a:p>
        </p:txBody>
      </p:sp>
      <p:sp>
        <p:nvSpPr>
          <p:cNvPr id="40" name="Action EMEA"/>
          <p:cNvSpPr/>
          <p:nvPr/>
        </p:nvSpPr>
        <p:spPr>
          <a:xfrm>
            <a:off x="457200" y="5074920"/>
            <a:ext cx="3566160" cy="457200"/>
          </a:xfrm>
          <a:prstGeom prst="roundRect">
            <a:avLst>
              <a:gd name="adj" fmla="val 50000"/>
            </a:avLst>
          </a:prstGeom>
          <a:solidFill>
            <a:schemeClr val="tx2"/>
          </a:solidFill>
          <a:ln w="12700">
            <a:solidFill>
              <a:schemeClr val="tx2"/>
            </a:solidFill>
            <a:prstDash val="solid"/>
          </a:ln>
        </p:spPr>
      </p:sp>
      <p:sp>
        <p:nvSpPr>
          <p:cNvPr id="41" name="Text 39"/>
          <p:cNvSpPr txBox="1"/>
          <p:nvPr/>
        </p:nvSpPr>
        <p:spPr>
          <a:xfrm>
            <a:off x="457200" y="5074920"/>
            <a:ext cx="3566160" cy="457200"/>
          </a:xfrm>
          <a:prstGeom prst="rect">
            <a:avLst/>
          </a:prstGeom>
          <a:noFill/>
          <a:ln/>
        </p:spPr>
        <p:txBody>
          <a:bodyPr wrap="square" lIns="0" tIns="0" rIns="0" bIns="0" rtlCol="0" anchor="ctr"/>
          <a:lstStyle/>
          <a:p>
            <a:pPr algn="ctr" indent="0" marL="0">
              <a:buNone/>
            </a:pPr>
            <a:r>
              <a:rPr lang="en-US" sz="1300" b="1" dirty="0">
                <a:solidFill>
                  <a:schemeClr val="bg1"/>
                </a:solidFill>
              </a:rPr>
              <a:t>Clean up partitions first</a:t>
            </a:r>
            <a:endParaRPr lang="en-US" sz="1300" dirty="0"/>
          </a:p>
        </p:txBody>
      </p:sp>
      <p:sp>
        <p:nvSpPr>
          <p:cNvPr id="42" name="Action AMR"/>
          <p:cNvSpPr/>
          <p:nvPr/>
        </p:nvSpPr>
        <p:spPr>
          <a:xfrm>
            <a:off x="4311396" y="5074920"/>
            <a:ext cx="3566160" cy="457200"/>
          </a:xfrm>
          <a:prstGeom prst="roundRect">
            <a:avLst>
              <a:gd name="adj" fmla="val 50000"/>
            </a:avLst>
          </a:prstGeom>
          <a:solidFill>
            <a:schemeClr val="tx2"/>
          </a:solidFill>
          <a:ln w="12700">
            <a:solidFill>
              <a:schemeClr val="tx2"/>
            </a:solidFill>
            <a:prstDash val="solid"/>
          </a:ln>
        </p:spPr>
      </p:sp>
      <p:sp>
        <p:nvSpPr>
          <p:cNvPr id="43" name="Text 41"/>
          <p:cNvSpPr txBox="1"/>
          <p:nvPr/>
        </p:nvSpPr>
        <p:spPr>
          <a:xfrm>
            <a:off x="4311396" y="5074920"/>
            <a:ext cx="3566160" cy="457200"/>
          </a:xfrm>
          <a:prstGeom prst="rect">
            <a:avLst/>
          </a:prstGeom>
          <a:noFill/>
          <a:ln/>
        </p:spPr>
        <p:txBody>
          <a:bodyPr wrap="square" lIns="0" tIns="0" rIns="0" bIns="0" rtlCol="0" anchor="ctr"/>
          <a:lstStyle/>
          <a:p>
            <a:pPr algn="ctr" indent="0" marL="0">
              <a:buNone/>
            </a:pPr>
            <a:r>
              <a:rPr lang="en-US" sz="1300" b="1" dirty="0">
                <a:solidFill>
                  <a:schemeClr val="bg1"/>
                </a:solidFill>
              </a:rPr>
              <a:t>Attach the 24 idle VMs</a:t>
            </a:r>
            <a:endParaRPr lang="en-US" sz="1300" dirty="0"/>
          </a:p>
        </p:txBody>
      </p:sp>
      <p:sp>
        <p:nvSpPr>
          <p:cNvPr id="44" name="Action APAC"/>
          <p:cNvSpPr/>
          <p:nvPr/>
        </p:nvSpPr>
        <p:spPr>
          <a:xfrm>
            <a:off x="8165592" y="5074920"/>
            <a:ext cx="3566160" cy="457200"/>
          </a:xfrm>
          <a:prstGeom prst="roundRect">
            <a:avLst>
              <a:gd name="adj" fmla="val 50000"/>
            </a:avLst>
          </a:prstGeom>
          <a:solidFill>
            <a:schemeClr val="tx2"/>
          </a:solidFill>
          <a:ln w="12700">
            <a:solidFill>
              <a:schemeClr val="tx2"/>
            </a:solidFill>
            <a:prstDash val="solid"/>
          </a:ln>
        </p:spPr>
      </p:sp>
      <p:sp>
        <p:nvSpPr>
          <p:cNvPr id="45" name="Text 43"/>
          <p:cNvSpPr txBox="1"/>
          <p:nvPr/>
        </p:nvSpPr>
        <p:spPr>
          <a:xfrm>
            <a:off x="8165592" y="5074920"/>
            <a:ext cx="3566160" cy="457200"/>
          </a:xfrm>
          <a:prstGeom prst="rect">
            <a:avLst/>
          </a:prstGeom>
          <a:noFill/>
          <a:ln/>
        </p:spPr>
        <p:txBody>
          <a:bodyPr wrap="square" lIns="0" tIns="0" rIns="0" bIns="0" rtlCol="0" anchor="ctr"/>
          <a:lstStyle/>
          <a:p>
            <a:pPr algn="ctr" indent="0" marL="0">
              <a:buNone/>
            </a:pPr>
            <a:r>
              <a:rPr lang="en-US" sz="1300" b="1" dirty="0">
                <a:solidFill>
                  <a:schemeClr val="bg1"/>
                </a:solidFill>
              </a:rPr>
              <a:t>Hold expansion; review requests</a:t>
            </a:r>
            <a:endParaRPr lang="en-US" sz="1300" dirty="0"/>
          </a:p>
        </p:txBody>
      </p:sp>
      <p:sp>
        <p:nvSpPr>
          <p:cNvPr id="46" name="Text 44"/>
          <p:cNvSpPr txBox="1"/>
          <p:nvPr/>
        </p:nvSpPr>
        <p:spPr>
          <a:xfrm>
            <a:off x="457200" y="5715000"/>
            <a:ext cx="11274552" cy="365760"/>
          </a:xfrm>
          <a:prstGeom prst="rect">
            <a:avLst/>
          </a:prstGeom>
          <a:noFill/>
          <a:ln/>
        </p:spPr>
        <p:txBody>
          <a:bodyPr wrap="square" lIns="0" tIns="0" rIns="0" bIns="0" rtlCol="0" anchor="ctr"/>
          <a:lstStyle/>
          <a:p>
            <a:pPr indent="0" marL="0">
              <a:buNone/>
            </a:pPr>
            <a:r>
              <a:rPr lang="en-US" sz="1300" i="1" dirty="0">
                <a:solidFill>
                  <a:schemeClr val="accent6"/>
                </a:solidFill>
              </a:rPr>
              <a:t>Principle: use the capacity we already own before buying more. Audit covers all three regions; EMEA PROD is the priority.</a:t>
            </a:r>
            <a:endParaRPr lang="en-US" sz="1300" dirty="0"/>
          </a:p>
        </p:txBody>
      </p:sp>
      <p:sp>
        <p:nvSpPr>
          <p:cNvPr id="25" name="Slide Number Placeholder 0"/>
          <p:cNvSpPr>
            <a:spLocks noGrp="1"/>
          </p:cNvSpPr>
          <p:nvPr>
            <p:ph type="sldNum" sz="quarter" idx="4294967295"/>
          </p:nvPr>
        </p:nvSpPr>
        <p:spPr>
          <a:xfrm>
            <a:off x="457200" y="6382512"/>
            <a:ext cx="3200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tep 1"/>
          <p:cNvSpPr/>
          <p:nvPr/>
        </p:nvSpPr>
        <p:spPr>
          <a:xfrm>
            <a:off x="457200" y="201168"/>
            <a:ext cx="2194560" cy="256032"/>
          </a:xfrm>
          <a:prstGeom prst="roundRect">
            <a:avLst>
              <a:gd name="adj" fmla="val 50000"/>
            </a:avLst>
          </a:prstGeom>
          <a:solidFill>
            <a:schemeClr val="bg2"/>
          </a:solidFill>
          <a:ln w="12700">
            <a:solidFill>
              <a:schemeClr val="bg2"/>
            </a:solidFill>
            <a:prstDash val="solid"/>
          </a:ln>
        </p:spPr>
      </p:sp>
      <p:sp>
        <p:nvSpPr>
          <p:cNvPr id="3" name="Text 1"/>
          <p:cNvSpPr txBox="1"/>
          <p:nvPr/>
        </p:nvSpPr>
        <p:spPr>
          <a:xfrm>
            <a:off x="457200" y="201168"/>
            <a:ext cx="2194560" cy="256032"/>
          </a:xfrm>
          <a:prstGeom prst="rect">
            <a:avLst/>
          </a:prstGeom>
          <a:noFill/>
          <a:ln/>
        </p:spPr>
        <p:txBody>
          <a:bodyPr wrap="square" lIns="0" tIns="0" rIns="0" bIns="0" rtlCol="0" anchor="ctr"/>
          <a:lstStyle/>
          <a:p>
            <a:pPr algn="ctr" indent="0" marL="0">
              <a:buNone/>
            </a:pPr>
            <a:r>
              <a:rPr lang="en-US" sz="950" dirty="0">
                <a:solidFill>
                  <a:schemeClr val="accent6"/>
                </a:solidFill>
              </a:rPr>
              <a:t>1  Why now · Business driver</a:t>
            </a:r>
            <a:endParaRPr lang="en-US" sz="950" dirty="0"/>
          </a:p>
        </p:txBody>
      </p:sp>
      <p:sp>
        <p:nvSpPr>
          <p:cNvPr id="4" name="Step 2"/>
          <p:cNvSpPr/>
          <p:nvPr/>
        </p:nvSpPr>
        <p:spPr>
          <a:xfrm>
            <a:off x="2761488" y="201168"/>
            <a:ext cx="2119579" cy="256032"/>
          </a:xfrm>
          <a:prstGeom prst="roundRect">
            <a:avLst>
              <a:gd name="adj" fmla="val 50000"/>
            </a:avLst>
          </a:prstGeom>
          <a:solidFill>
            <a:schemeClr val="bg2"/>
          </a:solidFill>
          <a:ln w="12700">
            <a:solidFill>
              <a:schemeClr val="bg2"/>
            </a:solidFill>
            <a:prstDash val="solid"/>
          </a:ln>
        </p:spPr>
      </p:sp>
      <p:sp>
        <p:nvSpPr>
          <p:cNvPr id="5" name="Text 3"/>
          <p:cNvSpPr txBox="1"/>
          <p:nvPr/>
        </p:nvSpPr>
        <p:spPr>
          <a:xfrm>
            <a:off x="2761488" y="201168"/>
            <a:ext cx="2119579" cy="256032"/>
          </a:xfrm>
          <a:prstGeom prst="rect">
            <a:avLst/>
          </a:prstGeom>
          <a:noFill/>
          <a:ln/>
        </p:spPr>
        <p:txBody>
          <a:bodyPr wrap="square" lIns="0" tIns="0" rIns="0" bIns="0" rtlCol="0" anchor="ctr"/>
          <a:lstStyle/>
          <a:p>
            <a:pPr algn="ctr" indent="0" marL="0">
              <a:buNone/>
            </a:pPr>
            <a:r>
              <a:rPr lang="en-US" sz="950" dirty="0">
                <a:solidFill>
                  <a:schemeClr val="accent6"/>
                </a:solidFill>
              </a:rPr>
              <a:t>2  The issue · Current risk</a:t>
            </a:r>
            <a:endParaRPr lang="en-US" sz="950" dirty="0"/>
          </a:p>
        </p:txBody>
      </p:sp>
      <p:sp>
        <p:nvSpPr>
          <p:cNvPr id="6" name="Step 3"/>
          <p:cNvSpPr/>
          <p:nvPr/>
        </p:nvSpPr>
        <p:spPr>
          <a:xfrm>
            <a:off x="4990795" y="201168"/>
            <a:ext cx="1744675" cy="256032"/>
          </a:xfrm>
          <a:prstGeom prst="roundRect">
            <a:avLst>
              <a:gd name="adj" fmla="val 50000"/>
            </a:avLst>
          </a:prstGeom>
          <a:solidFill>
            <a:schemeClr val="tx2"/>
          </a:solidFill>
          <a:ln w="12700">
            <a:solidFill>
              <a:schemeClr val="tx2"/>
            </a:solidFill>
            <a:prstDash val="solid"/>
          </a:ln>
        </p:spPr>
      </p:sp>
      <p:sp>
        <p:nvSpPr>
          <p:cNvPr id="7" name="Text 5"/>
          <p:cNvSpPr txBox="1"/>
          <p:nvPr/>
        </p:nvSpPr>
        <p:spPr>
          <a:xfrm>
            <a:off x="4990795" y="201168"/>
            <a:ext cx="1744675" cy="256032"/>
          </a:xfrm>
          <a:prstGeom prst="rect">
            <a:avLst/>
          </a:prstGeom>
          <a:noFill/>
          <a:ln/>
        </p:spPr>
        <p:txBody>
          <a:bodyPr wrap="square" lIns="0" tIns="0" rIns="0" bIns="0" rtlCol="0" anchor="ctr"/>
          <a:lstStyle/>
          <a:p>
            <a:pPr algn="ctr" indent="0" marL="0">
              <a:buNone/>
            </a:pPr>
            <a:r>
              <a:rPr lang="en-US" sz="950" b="1" dirty="0">
                <a:solidFill>
                  <a:schemeClr val="bg1"/>
                </a:solidFill>
              </a:rPr>
              <a:t>3  The measures · KPIs</a:t>
            </a:r>
            <a:endParaRPr lang="en-US" sz="950" dirty="0"/>
          </a:p>
        </p:txBody>
      </p:sp>
      <p:sp>
        <p:nvSpPr>
          <p:cNvPr id="8" name="Step 4"/>
          <p:cNvSpPr/>
          <p:nvPr/>
        </p:nvSpPr>
        <p:spPr>
          <a:xfrm>
            <a:off x="6845198" y="201168"/>
            <a:ext cx="1969618" cy="256032"/>
          </a:xfrm>
          <a:prstGeom prst="roundRect">
            <a:avLst>
              <a:gd name="adj" fmla="val 50000"/>
            </a:avLst>
          </a:prstGeom>
          <a:solidFill>
            <a:schemeClr val="bg2"/>
          </a:solidFill>
          <a:ln w="12700">
            <a:solidFill>
              <a:schemeClr val="bg2"/>
            </a:solidFill>
            <a:prstDash val="solid"/>
          </a:ln>
        </p:spPr>
      </p:sp>
      <p:sp>
        <p:nvSpPr>
          <p:cNvPr id="9" name="Text 7"/>
          <p:cNvSpPr txBox="1"/>
          <p:nvPr/>
        </p:nvSpPr>
        <p:spPr>
          <a:xfrm>
            <a:off x="6845198" y="201168"/>
            <a:ext cx="1969618" cy="256032"/>
          </a:xfrm>
          <a:prstGeom prst="rect">
            <a:avLst/>
          </a:prstGeom>
          <a:noFill/>
          <a:ln/>
        </p:spPr>
        <p:txBody>
          <a:bodyPr wrap="square" lIns="0" tIns="0" rIns="0" bIns="0" rtlCol="0" anchor="ctr"/>
          <a:lstStyle/>
          <a:p>
            <a:pPr algn="ctr" indent="0" marL="0">
              <a:buNone/>
            </a:pPr>
            <a:r>
              <a:rPr lang="en-US" sz="950" dirty="0">
                <a:solidFill>
                  <a:schemeClr val="accent6"/>
                </a:solidFill>
              </a:rPr>
              <a:t>4  The plan · Remediation</a:t>
            </a:r>
            <a:endParaRPr lang="en-US" sz="950" dirty="0"/>
          </a:p>
        </p:txBody>
      </p:sp>
      <p:sp>
        <p:nvSpPr>
          <p:cNvPr id="10" name="Step 5"/>
          <p:cNvSpPr/>
          <p:nvPr/>
        </p:nvSpPr>
        <p:spPr>
          <a:xfrm>
            <a:off x="8924544" y="201168"/>
            <a:ext cx="1969618" cy="256032"/>
          </a:xfrm>
          <a:prstGeom prst="roundRect">
            <a:avLst>
              <a:gd name="adj" fmla="val 50000"/>
            </a:avLst>
          </a:prstGeom>
          <a:solidFill>
            <a:schemeClr val="bg2"/>
          </a:solidFill>
          <a:ln w="12700">
            <a:solidFill>
              <a:schemeClr val="bg2"/>
            </a:solidFill>
            <a:prstDash val="solid"/>
          </a:ln>
        </p:spPr>
      </p:sp>
      <p:sp>
        <p:nvSpPr>
          <p:cNvPr id="11" name="Text 9"/>
          <p:cNvSpPr txBox="1"/>
          <p:nvPr/>
        </p:nvSpPr>
        <p:spPr>
          <a:xfrm>
            <a:off x="8924544" y="201168"/>
            <a:ext cx="1969618" cy="256032"/>
          </a:xfrm>
          <a:prstGeom prst="rect">
            <a:avLst/>
          </a:prstGeom>
          <a:noFill/>
          <a:ln/>
        </p:spPr>
        <p:txBody>
          <a:bodyPr wrap="square" lIns="0" tIns="0" rIns="0" bIns="0" rtlCol="0" anchor="ctr"/>
          <a:lstStyle/>
          <a:p>
            <a:pPr algn="ctr" indent="0" marL="0">
              <a:buNone/>
            </a:pPr>
            <a:r>
              <a:rPr lang="en-US" sz="950" dirty="0">
                <a:solidFill>
                  <a:schemeClr val="accent6"/>
                </a:solidFill>
              </a:rPr>
              <a:t>5  The timeline · Roadmap</a:t>
            </a:r>
            <a:endParaRPr lang="en-US" sz="950" dirty="0"/>
          </a:p>
        </p:txBody>
      </p:sp>
      <p:sp>
        <p:nvSpPr>
          <p:cNvPr id="12" name="Text 0"/>
          <p:cNvSpPr/>
          <p:nvPr>
            <p:ph idx="100" type="title" hasCustomPrompt="1"/>
          </p:nvPr>
        </p:nvSpPr>
        <p:spPr>
          <a:xfrm>
            <a:off x="457200" y="566928"/>
            <a:ext cx="11274552" cy="685800"/>
          </a:xfrm>
          <a:prstGeom prst="rect">
            <a:avLst/>
          </a:prstGeom>
          <a:noFill/>
          <a:ln/>
        </p:spPr>
        <p:txBody>
          <a:bodyPr wrap="square" lIns="0" tIns="0" rIns="0" bIns="0" rtlCol="0" anchor="t"/>
          <a:lstStyle/>
          <a:p>
            <a:pPr algn="l" indent="0" marL="0">
              <a:buNone/>
            </a:pPr>
            <a:r>
              <a:rPr lang="en-US" sz="2800" b="1" dirty="0">
                <a:solidFill>
                  <a:schemeClr val="tx1"/>
                </a:solidFill>
              </a:rPr>
              <a:t>The measures: nine KPIs, baselined now and tracked to target</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914400"/>
        </p:xfrm>
        <a:graphic>
          <a:graphicData uri="http://schemas.openxmlformats.org/drawingml/2006/table">
            <a:tbl>
              <a:tblPr/>
              <a:tblGrid>
                <a:gridCol w="1783080"/>
                <a:gridCol w="3154680"/>
                <a:gridCol w="1691640"/>
                <a:gridCol w="1463040"/>
                <a:gridCol w="3182112"/>
              </a:tblGrid>
              <a:tr h="429768">
                <a:tc>
                  <a:txBody>
                    <a:bodyPr/>
                    <a:lstStyle/>
                    <a:p>
                      <a:pPr algn="l" indent="0" marL="0">
                        <a:buNone/>
                      </a:pPr>
                      <a:r>
                        <a:rPr lang="en-US" sz="1300" b="1" dirty="0">
                          <a:solidFill>
                            <a:schemeClr val="bg1"/>
                          </a:solidFill>
                        </a:rPr>
                        <a:t>Area</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Measure</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Current</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Target</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Why it matters</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tx2"/>
                    </a:solidFill>
                  </a:tcPr>
                </a:tc>
              </a:tr>
              <a:tr h="429768">
                <a:tc>
                  <a:txBody>
                    <a:bodyPr/>
                    <a:lstStyle/>
                    <a:p>
                      <a:pPr indent="0" marL="0">
                        <a:buNone/>
                      </a:pPr>
                      <a:r>
                        <a:rPr lang="en-US" sz="1300" b="1" dirty="0">
                          <a:solidFill>
                            <a:schemeClr val="tx1"/>
                          </a:solidFill>
                        </a:rPr>
                        <a:t>Partitions – PROD</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Total (per broker)</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rPr>
                        <a:t>226K (4.5K)</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4"/>
                          </a:solidFill>
                        </a:rPr>
                        <a:t>&lt;180K (&lt;3.6K)</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Faster failover and failback</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1"/>
                          </a:solidFill>
                        </a:rPr>
                        <a:t>Partition growth</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Net new PROD partitions per week</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rPr>
                        <a:t>≈ +2K</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4"/>
                          </a:solidFill>
                        </a:rPr>
                        <a:t>Approved only</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Stops the estate drifting back</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1"/>
                          </a:solidFill>
                        </a:rPr>
                        <a:t>Partitions – UAT</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Total (per broker)</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rPr>
                        <a:t>694K (13.9K)</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4"/>
                          </a:solidFill>
                        </a:rPr>
                        <a:t>≤200K (≤4K)</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Remove test sprawl; stable UAT</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1"/>
                          </a:solidFill>
                        </a:rPr>
                        <a:t>Failover</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Leader election and URP recovery time</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rPr>
                        <a:t>Slow – baseline</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4"/>
                          </a:solidFill>
                        </a:rPr>
                        <a:t>Agreed SLA</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Safe patching and DCR</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1"/>
                          </a:solidFill>
                        </a:rPr>
                        <a:t>Memory</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JVM heap, busiest brokers</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rPr>
                        <a:t>60–90%</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4"/>
                          </a:solidFill>
                        </a:rPr>
                        <a:t>Re-measure</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Decides vertical vs horizontal scaling</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1"/>
                          </a:solidFill>
                        </a:rPr>
                        <a:t>Storage / CPU</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Disk used; CPU average (peak)</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4"/>
                          </a:solidFill>
                        </a:rPr>
                        <a:t>60%; 20% (50%)</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4"/>
                          </a:solidFill>
                        </a:rPr>
                        <a:t>Hold ≤70%</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Headroom stays intact</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1"/>
                          </a:solidFill>
                        </a:rPr>
                        <a:t>Idle capacity</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Procured VMs not in service (AMR)</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rPr>
                        <a:t>24</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4"/>
                          </a:solidFill>
                        </a:rPr>
                        <a:t>0</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Use what we own before buying</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1"/>
                          </a:solidFill>
                        </a:rPr>
                        <a:t>System-ID mapping</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Topics mapped to a system ID</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rPr>
                        <a:t>No visibility</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4"/>
                          </a:solidFill>
                        </a:rPr>
                        <a:t>100%</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Per-system network quotas</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1"/>
                          </a:solidFill>
                        </a:rPr>
                        <a:t>Unsupported OS</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RHEL 7 VMs (PROD + UAT)</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rPr>
                        <a:t>≈28</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4"/>
                          </a:solidFill>
                        </a:rPr>
                        <a:t>0</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Closes audit finding</a:t>
                      </a:r>
                      <a:endParaRPr lang="en-US" sz="1300" dirty="0"/>
                    </a:p>
                  </a:txBody>
                  <a:tcPr marL="109728" marR="109728" marT="0" marB="0" anchor="ctr">
                    <a:lnL w="9525" cap="flat" cmpd="sng" algn="ctr">
                      <a:solidFill>
                        <a:srgbClr val="D5E3EC"/>
                      </a:solidFill>
                      <a:prstDash val="solid"/>
                      <a:round/>
                      <a:headEnd type="none" w="med" len="med"/>
                      <a:tailEnd type="none" w="med" len="med"/>
                    </a:lnL>
                    <a:lnR w="9525" cap="flat" cmpd="sng" algn="ctr">
                      <a:solidFill>
                        <a:srgbClr val="D5E3EC"/>
                      </a:solidFill>
                      <a:prstDash val="solid"/>
                      <a:round/>
                      <a:headEnd type="none" w="med" len="med"/>
                      <a:tailEnd type="none" w="med" len="med"/>
                    </a:lnR>
                    <a:lnT w="9525" cap="flat" cmpd="sng" algn="ctr">
                      <a:solidFill>
                        <a:srgbClr val="D5E3EC"/>
                      </a:solidFill>
                      <a:prstDash val="solid"/>
                      <a:round/>
                      <a:headEnd type="none" w="med" len="med"/>
                      <a:tailEnd type="none" w="med" len="med"/>
                    </a:lnT>
                    <a:lnB w="9525" cap="flat" cmpd="sng" algn="ctr">
                      <a:solidFill>
                        <a:srgbClr val="D5E3EC"/>
                      </a:solidFill>
                      <a:prstDash val="solid"/>
                      <a:round/>
                      <a:headEnd type="none" w="med" len="med"/>
                      <a:tailEnd type="none" w="med" len="med"/>
                    </a:lnB>
                    <a:solidFill>
                      <a:schemeClr val="bg1"/>
                    </a:solidFill>
                  </a:tcPr>
                </a:tc>
              </a:tr>
            </a:tbl>
          </a:graphicData>
        </a:graphic>
      </p:graphicFrame>
      <p:sp>
        <p:nvSpPr>
          <p:cNvPr id="14" name="Text 11"/>
          <p:cNvSpPr txBox="1"/>
          <p:nvPr/>
        </p:nvSpPr>
        <p:spPr>
          <a:xfrm>
            <a:off x="457200" y="5870448"/>
            <a:ext cx="11274552" cy="320040"/>
          </a:xfrm>
          <a:prstGeom prst="rect">
            <a:avLst/>
          </a:prstGeom>
          <a:noFill/>
          <a:ln/>
        </p:spPr>
        <p:txBody>
          <a:bodyPr wrap="square" lIns="0" tIns="0" rIns="0" bIns="0" rtlCol="0" anchor="ctr"/>
          <a:lstStyle/>
          <a:p>
            <a:pPr indent="0" marL="0">
              <a:buNone/>
            </a:pPr>
            <a:r>
              <a:rPr lang="en-US" sz="1200" i="1" dirty="0">
                <a:solidFill>
                  <a:schemeClr val="accent6"/>
                </a:solidFill>
              </a:rPr>
              <a:t>Targets are proposed. Baselines are confirmed in Weeks 1–3 and reported on a weekly management scorecard.</a:t>
            </a:r>
            <a:endParaRPr lang="en-US" sz="1200" dirty="0"/>
          </a:p>
        </p:txBody>
      </p:sp>
      <p:sp>
        <p:nvSpPr>
          <p:cNvPr id="25" name="Slide Number Placeholder 0"/>
          <p:cNvSpPr>
            <a:spLocks noGrp="1"/>
          </p:cNvSpPr>
          <p:nvPr>
            <p:ph type="sldNum" sz="quarter" idx="4294967295"/>
          </p:nvPr>
        </p:nvSpPr>
        <p:spPr>
          <a:xfrm>
            <a:off x="457200" y="6382512"/>
            <a:ext cx="3200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tep 1"/>
          <p:cNvSpPr/>
          <p:nvPr/>
        </p:nvSpPr>
        <p:spPr>
          <a:xfrm>
            <a:off x="457200" y="201168"/>
            <a:ext cx="2194560" cy="256032"/>
          </a:xfrm>
          <a:prstGeom prst="roundRect">
            <a:avLst>
              <a:gd name="adj" fmla="val 50000"/>
            </a:avLst>
          </a:prstGeom>
          <a:solidFill>
            <a:schemeClr val="bg2"/>
          </a:solidFill>
          <a:ln w="12700">
            <a:solidFill>
              <a:schemeClr val="bg2"/>
            </a:solidFill>
            <a:prstDash val="solid"/>
          </a:ln>
        </p:spPr>
      </p:sp>
      <p:sp>
        <p:nvSpPr>
          <p:cNvPr id="3" name="Text 1"/>
          <p:cNvSpPr txBox="1"/>
          <p:nvPr/>
        </p:nvSpPr>
        <p:spPr>
          <a:xfrm>
            <a:off x="457200" y="201168"/>
            <a:ext cx="2194560" cy="256032"/>
          </a:xfrm>
          <a:prstGeom prst="rect">
            <a:avLst/>
          </a:prstGeom>
          <a:noFill/>
          <a:ln/>
        </p:spPr>
        <p:txBody>
          <a:bodyPr wrap="square" lIns="0" tIns="0" rIns="0" bIns="0" rtlCol="0" anchor="ctr"/>
          <a:lstStyle/>
          <a:p>
            <a:pPr algn="ctr" indent="0" marL="0">
              <a:buNone/>
            </a:pPr>
            <a:r>
              <a:rPr lang="en-US" sz="950" dirty="0">
                <a:solidFill>
                  <a:schemeClr val="accent6"/>
                </a:solidFill>
              </a:rPr>
              <a:t>1  Why now · Business driver</a:t>
            </a:r>
            <a:endParaRPr lang="en-US" sz="950" dirty="0"/>
          </a:p>
        </p:txBody>
      </p:sp>
      <p:sp>
        <p:nvSpPr>
          <p:cNvPr id="4" name="Step 2"/>
          <p:cNvSpPr/>
          <p:nvPr/>
        </p:nvSpPr>
        <p:spPr>
          <a:xfrm>
            <a:off x="2761488" y="201168"/>
            <a:ext cx="2119579" cy="256032"/>
          </a:xfrm>
          <a:prstGeom prst="roundRect">
            <a:avLst>
              <a:gd name="adj" fmla="val 50000"/>
            </a:avLst>
          </a:prstGeom>
          <a:solidFill>
            <a:schemeClr val="bg2"/>
          </a:solidFill>
          <a:ln w="12700">
            <a:solidFill>
              <a:schemeClr val="bg2"/>
            </a:solidFill>
            <a:prstDash val="solid"/>
          </a:ln>
        </p:spPr>
      </p:sp>
      <p:sp>
        <p:nvSpPr>
          <p:cNvPr id="5" name="Text 3"/>
          <p:cNvSpPr txBox="1"/>
          <p:nvPr/>
        </p:nvSpPr>
        <p:spPr>
          <a:xfrm>
            <a:off x="2761488" y="201168"/>
            <a:ext cx="2119579" cy="256032"/>
          </a:xfrm>
          <a:prstGeom prst="rect">
            <a:avLst/>
          </a:prstGeom>
          <a:noFill/>
          <a:ln/>
        </p:spPr>
        <p:txBody>
          <a:bodyPr wrap="square" lIns="0" tIns="0" rIns="0" bIns="0" rtlCol="0" anchor="ctr"/>
          <a:lstStyle/>
          <a:p>
            <a:pPr algn="ctr" indent="0" marL="0">
              <a:buNone/>
            </a:pPr>
            <a:r>
              <a:rPr lang="en-US" sz="950" dirty="0">
                <a:solidFill>
                  <a:schemeClr val="accent6"/>
                </a:solidFill>
              </a:rPr>
              <a:t>2  The issue · Current risk</a:t>
            </a:r>
            <a:endParaRPr lang="en-US" sz="950" dirty="0"/>
          </a:p>
        </p:txBody>
      </p:sp>
      <p:sp>
        <p:nvSpPr>
          <p:cNvPr id="6" name="Step 3"/>
          <p:cNvSpPr/>
          <p:nvPr/>
        </p:nvSpPr>
        <p:spPr>
          <a:xfrm>
            <a:off x="4990795" y="201168"/>
            <a:ext cx="1744675" cy="256032"/>
          </a:xfrm>
          <a:prstGeom prst="roundRect">
            <a:avLst>
              <a:gd name="adj" fmla="val 50000"/>
            </a:avLst>
          </a:prstGeom>
          <a:solidFill>
            <a:schemeClr val="bg2"/>
          </a:solidFill>
          <a:ln w="12700">
            <a:solidFill>
              <a:schemeClr val="bg2"/>
            </a:solidFill>
            <a:prstDash val="solid"/>
          </a:ln>
        </p:spPr>
      </p:sp>
      <p:sp>
        <p:nvSpPr>
          <p:cNvPr id="7" name="Text 5"/>
          <p:cNvSpPr txBox="1"/>
          <p:nvPr/>
        </p:nvSpPr>
        <p:spPr>
          <a:xfrm>
            <a:off x="4990795" y="201168"/>
            <a:ext cx="1744675" cy="256032"/>
          </a:xfrm>
          <a:prstGeom prst="rect">
            <a:avLst/>
          </a:prstGeom>
          <a:noFill/>
          <a:ln/>
        </p:spPr>
        <p:txBody>
          <a:bodyPr wrap="square" lIns="0" tIns="0" rIns="0" bIns="0" rtlCol="0" anchor="ctr"/>
          <a:lstStyle/>
          <a:p>
            <a:pPr algn="ctr" indent="0" marL="0">
              <a:buNone/>
            </a:pPr>
            <a:r>
              <a:rPr lang="en-US" sz="950" dirty="0">
                <a:solidFill>
                  <a:schemeClr val="accent6"/>
                </a:solidFill>
              </a:rPr>
              <a:t>3  The measures · KPIs</a:t>
            </a:r>
            <a:endParaRPr lang="en-US" sz="950" dirty="0"/>
          </a:p>
        </p:txBody>
      </p:sp>
      <p:sp>
        <p:nvSpPr>
          <p:cNvPr id="8" name="Step 4"/>
          <p:cNvSpPr/>
          <p:nvPr/>
        </p:nvSpPr>
        <p:spPr>
          <a:xfrm>
            <a:off x="6845198" y="201168"/>
            <a:ext cx="1969618" cy="256032"/>
          </a:xfrm>
          <a:prstGeom prst="roundRect">
            <a:avLst>
              <a:gd name="adj" fmla="val 50000"/>
            </a:avLst>
          </a:prstGeom>
          <a:solidFill>
            <a:schemeClr val="tx2"/>
          </a:solidFill>
          <a:ln w="12700">
            <a:solidFill>
              <a:schemeClr val="tx2"/>
            </a:solidFill>
            <a:prstDash val="solid"/>
          </a:ln>
        </p:spPr>
      </p:sp>
      <p:sp>
        <p:nvSpPr>
          <p:cNvPr id="9" name="Text 7"/>
          <p:cNvSpPr txBox="1"/>
          <p:nvPr/>
        </p:nvSpPr>
        <p:spPr>
          <a:xfrm>
            <a:off x="6845198" y="201168"/>
            <a:ext cx="1969618" cy="256032"/>
          </a:xfrm>
          <a:prstGeom prst="rect">
            <a:avLst/>
          </a:prstGeom>
          <a:noFill/>
          <a:ln/>
        </p:spPr>
        <p:txBody>
          <a:bodyPr wrap="square" lIns="0" tIns="0" rIns="0" bIns="0" rtlCol="0" anchor="ctr"/>
          <a:lstStyle/>
          <a:p>
            <a:pPr algn="ctr" indent="0" marL="0">
              <a:buNone/>
            </a:pPr>
            <a:r>
              <a:rPr lang="en-US" sz="950" b="1" dirty="0">
                <a:solidFill>
                  <a:schemeClr val="bg1"/>
                </a:solidFill>
              </a:rPr>
              <a:t>4  The plan · Remediation</a:t>
            </a:r>
            <a:endParaRPr lang="en-US" sz="950" dirty="0"/>
          </a:p>
        </p:txBody>
      </p:sp>
      <p:sp>
        <p:nvSpPr>
          <p:cNvPr id="10" name="Step 5"/>
          <p:cNvSpPr/>
          <p:nvPr/>
        </p:nvSpPr>
        <p:spPr>
          <a:xfrm>
            <a:off x="8924544" y="201168"/>
            <a:ext cx="1969618" cy="256032"/>
          </a:xfrm>
          <a:prstGeom prst="roundRect">
            <a:avLst>
              <a:gd name="adj" fmla="val 50000"/>
            </a:avLst>
          </a:prstGeom>
          <a:solidFill>
            <a:schemeClr val="bg2"/>
          </a:solidFill>
          <a:ln w="12700">
            <a:solidFill>
              <a:schemeClr val="bg2"/>
            </a:solidFill>
            <a:prstDash val="solid"/>
          </a:ln>
        </p:spPr>
      </p:sp>
      <p:sp>
        <p:nvSpPr>
          <p:cNvPr id="11" name="Text 9"/>
          <p:cNvSpPr txBox="1"/>
          <p:nvPr/>
        </p:nvSpPr>
        <p:spPr>
          <a:xfrm>
            <a:off x="8924544" y="201168"/>
            <a:ext cx="1969618" cy="256032"/>
          </a:xfrm>
          <a:prstGeom prst="rect">
            <a:avLst/>
          </a:prstGeom>
          <a:noFill/>
          <a:ln/>
        </p:spPr>
        <p:txBody>
          <a:bodyPr wrap="square" lIns="0" tIns="0" rIns="0" bIns="0" rtlCol="0" anchor="ctr"/>
          <a:lstStyle/>
          <a:p>
            <a:pPr algn="ctr" indent="0" marL="0">
              <a:buNone/>
            </a:pPr>
            <a:r>
              <a:rPr lang="en-US" sz="950" dirty="0">
                <a:solidFill>
                  <a:schemeClr val="accent6"/>
                </a:solidFill>
              </a:rPr>
              <a:t>5  The timeline · Roadmap</a:t>
            </a:r>
            <a:endParaRPr lang="en-US" sz="950" dirty="0"/>
          </a:p>
        </p:txBody>
      </p:sp>
      <p:sp>
        <p:nvSpPr>
          <p:cNvPr id="12" name="Text 0"/>
          <p:cNvSpPr/>
          <p:nvPr>
            <p:ph idx="100" type="title" hasCustomPrompt="1"/>
          </p:nvPr>
        </p:nvSpPr>
        <p:spPr>
          <a:xfrm>
            <a:off x="457200" y="566928"/>
            <a:ext cx="11274552" cy="685800"/>
          </a:xfrm>
          <a:prstGeom prst="rect">
            <a:avLst/>
          </a:prstGeom>
          <a:noFill/>
          <a:ln/>
        </p:spPr>
        <p:txBody>
          <a:bodyPr wrap="square" lIns="0" tIns="0" rIns="0" bIns="0" rtlCol="0" anchor="t"/>
          <a:lstStyle/>
          <a:p>
            <a:pPr algn="l" indent="0" marL="0">
              <a:buNone/>
            </a:pPr>
            <a:r>
              <a:rPr lang="en-US" sz="2800" b="1" dirty="0">
                <a:solidFill>
                  <a:schemeClr val="tx1"/>
                </a:solidFill>
              </a:rPr>
              <a:t>The plan: clean up first, then size on evidence, then harden</a:t>
            </a:r>
            <a:endParaRPr lang="en-US" sz="2800" dirty="0"/>
          </a:p>
        </p:txBody>
      </p:sp>
      <p:sp>
        <p:nvSpPr>
          <p:cNvPr id="13" name="Workstream 1"/>
          <p:cNvSpPr/>
          <p:nvPr/>
        </p:nvSpPr>
        <p:spPr>
          <a:xfrm>
            <a:off x="457200" y="1508760"/>
            <a:ext cx="3566160" cy="4023360"/>
          </a:xfrm>
          <a:prstGeom prst="roundRect">
            <a:avLst>
              <a:gd name="adj" fmla="val 2051"/>
            </a:avLst>
          </a:prstGeom>
          <a:solidFill>
            <a:schemeClr val="bg2"/>
          </a:solidFill>
          <a:ln w="12700">
            <a:solidFill>
              <a:schemeClr val="bg2"/>
            </a:solidFill>
            <a:prstDash val="solid"/>
          </a:ln>
        </p:spPr>
      </p:sp>
      <p:sp>
        <p:nvSpPr>
          <p:cNvPr id="14" name="Workstream icon bg 1"/>
          <p:cNvSpPr/>
          <p:nvPr/>
        </p:nvSpPr>
        <p:spPr>
          <a:xfrm>
            <a:off x="731520" y="1783080"/>
            <a:ext cx="548640" cy="548640"/>
          </a:xfrm>
          <a:prstGeom prst="ellipse">
            <a:avLst/>
          </a:prstGeom>
          <a:solidFill>
            <a:schemeClr val="tx2"/>
          </a:solidFill>
          <a:ln w="12700">
            <a:solidFill>
              <a:schemeClr val="tx2"/>
            </a:solidFill>
            <a:prstDash val="solid"/>
          </a:ln>
        </p:spPr>
      </p:sp>
      <p:pic>
        <p:nvPicPr>
          <p:cNvPr id="15" name="Image 0" descr="Clean up">    </p:cNvPr>
          <p:cNvPicPr>
            <a:picLocks noChangeAspect="1"/>
          </p:cNvPicPr>
          <p:nvPr/>
        </p:nvPicPr>
        <p:blipFill>
          <a:blip r:embed="rId1"/>
          <a:stretch>
            <a:fillRect/>
          </a:stretch>
        </p:blipFill>
        <p:spPr>
          <a:xfrm>
            <a:off x="868680" y="1920240"/>
            <a:ext cx="274320" cy="274320"/>
          </a:xfrm>
          <a:prstGeom prst="rect">
            <a:avLst/>
          </a:prstGeom>
        </p:spPr>
      </p:pic>
      <p:sp>
        <p:nvSpPr>
          <p:cNvPr id="16" name="Text 13"/>
          <p:cNvSpPr txBox="1"/>
          <p:nvPr/>
        </p:nvSpPr>
        <p:spPr>
          <a:xfrm>
            <a:off x="1417320" y="1783080"/>
            <a:ext cx="2377440" cy="548640"/>
          </a:xfrm>
          <a:prstGeom prst="rect">
            <a:avLst/>
          </a:prstGeom>
          <a:noFill/>
          <a:ln/>
        </p:spPr>
        <p:txBody>
          <a:bodyPr wrap="square" lIns="0" tIns="0" rIns="0" bIns="0" rtlCol="0" anchor="ctr"/>
          <a:lstStyle/>
          <a:p>
            <a:pPr indent="0" marL="0">
              <a:buNone/>
            </a:pPr>
            <a:r>
              <a:rPr lang="en-US" sz="1800" b="1" dirty="0">
                <a:solidFill>
                  <a:schemeClr val="tx1"/>
                </a:solidFill>
              </a:rPr>
              <a:t>1  Clean up</a:t>
            </a:r>
            <a:endParaRPr lang="en-US" sz="1800" dirty="0"/>
          </a:p>
        </p:txBody>
      </p:sp>
      <p:sp>
        <p:nvSpPr>
          <p:cNvPr id="17" name="Text 14"/>
          <p:cNvSpPr txBox="1"/>
          <p:nvPr/>
        </p:nvSpPr>
        <p:spPr>
          <a:xfrm>
            <a:off x="731520" y="2560320"/>
            <a:ext cx="3063240" cy="219456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tx1"/>
                </a:solidFill>
              </a:rPr>
              <a:t>Map topics to system IDs; find dormant ones</a:t>
            </a:r>
            <a:endParaRPr lang="en-US" sz="1400" dirty="0"/>
          </a:p>
          <a:p>
            <a:pPr marL="342900" indent="-342900">
              <a:spcAft>
                <a:spcPts val="900"/>
              </a:spcAft>
              <a:buSzPct val="100000"/>
              <a:buChar char="•"/>
            </a:pPr>
            <a:r>
              <a:rPr lang="en-US" sz="1400" dirty="0">
                <a:solidFill>
                  <a:schemeClr val="tx1"/>
                </a:solidFill>
              </a:rPr>
              <a:t>Remove with owner sign-off, UAT first</a:t>
            </a:r>
            <a:endParaRPr lang="en-US" sz="1400" dirty="0"/>
          </a:p>
          <a:p>
            <a:pPr marL="342900" indent="-342900">
              <a:spcAft>
                <a:spcPts val="900"/>
              </a:spcAft>
              <a:buSzPct val="100000"/>
              <a:buChar char="•"/>
            </a:pPr>
            <a:r>
              <a:rPr lang="en-US" sz="1400" dirty="0">
                <a:solidFill>
                  <a:schemeClr val="tx1"/>
                </a:solidFill>
              </a:rPr>
              <a:t>Rebuild over-partitioned topics (counts cannot shrink in place)</a:t>
            </a:r>
            <a:endParaRPr lang="en-US" sz="1400" dirty="0"/>
          </a:p>
          <a:p>
            <a:pPr marL="342900" indent="-342900">
              <a:spcAft>
                <a:spcPts val="900"/>
              </a:spcAft>
              <a:buSzPct val="100000"/>
              <a:buChar char="•"/>
            </a:pPr>
            <a:r>
              <a:rPr lang="en-US" sz="1400" dirty="0">
                <a:solidFill>
                  <a:schemeClr val="tx1"/>
                </a:solidFill>
              </a:rPr>
              <a:t>Make cleanup a recurring hygiene cycle</a:t>
            </a:r>
            <a:endParaRPr lang="en-US" sz="1400" dirty="0"/>
          </a:p>
        </p:txBody>
      </p:sp>
      <p:sp>
        <p:nvSpPr>
          <p:cNvPr id="18" name="KPI pill 1"/>
          <p:cNvSpPr/>
          <p:nvPr/>
        </p:nvSpPr>
        <p:spPr>
          <a:xfrm>
            <a:off x="731520" y="4800600"/>
            <a:ext cx="3017520" cy="457200"/>
          </a:xfrm>
          <a:prstGeom prst="roundRect">
            <a:avLst>
              <a:gd name="adj" fmla="val 50000"/>
            </a:avLst>
          </a:prstGeom>
          <a:solidFill>
            <a:schemeClr val="bg1"/>
          </a:solidFill>
          <a:ln w="12700">
            <a:solidFill>
              <a:schemeClr val="bg1"/>
            </a:solidFill>
            <a:prstDash val="solid"/>
          </a:ln>
        </p:spPr>
      </p:sp>
      <p:sp>
        <p:nvSpPr>
          <p:cNvPr id="19" name="Text 16"/>
          <p:cNvSpPr txBox="1"/>
          <p:nvPr/>
        </p:nvSpPr>
        <p:spPr>
          <a:xfrm>
            <a:off x="731520" y="4800600"/>
            <a:ext cx="3017520" cy="457200"/>
          </a:xfrm>
          <a:prstGeom prst="rect">
            <a:avLst/>
          </a:prstGeom>
          <a:noFill/>
          <a:ln/>
        </p:spPr>
        <p:txBody>
          <a:bodyPr wrap="square" lIns="0" tIns="0" rIns="0" bIns="0" rtlCol="0" anchor="ctr"/>
          <a:lstStyle/>
          <a:p>
            <a:pPr algn="ctr" indent="0" marL="0">
              <a:buNone/>
            </a:pPr>
            <a:r>
              <a:rPr lang="en-US" sz="1200" b="1" dirty="0">
                <a:solidFill>
                  <a:schemeClr val="accent1"/>
                </a:solidFill>
              </a:rPr>
              <a:t>Moves: partitions, failover, system IDs</a:t>
            </a:r>
            <a:endParaRPr lang="en-US" sz="1200" dirty="0"/>
          </a:p>
        </p:txBody>
      </p:sp>
      <p:sp>
        <p:nvSpPr>
          <p:cNvPr id="20" name="Workstream 2"/>
          <p:cNvSpPr/>
          <p:nvPr/>
        </p:nvSpPr>
        <p:spPr>
          <a:xfrm>
            <a:off x="4311396" y="1508760"/>
            <a:ext cx="3566160" cy="4023360"/>
          </a:xfrm>
          <a:prstGeom prst="roundRect">
            <a:avLst>
              <a:gd name="adj" fmla="val 2051"/>
            </a:avLst>
          </a:prstGeom>
          <a:solidFill>
            <a:schemeClr val="bg2"/>
          </a:solidFill>
          <a:ln w="12700">
            <a:solidFill>
              <a:schemeClr val="bg2"/>
            </a:solidFill>
            <a:prstDash val="solid"/>
          </a:ln>
        </p:spPr>
      </p:sp>
      <p:sp>
        <p:nvSpPr>
          <p:cNvPr id="21" name="Workstream icon bg 2"/>
          <p:cNvSpPr/>
          <p:nvPr/>
        </p:nvSpPr>
        <p:spPr>
          <a:xfrm>
            <a:off x="4585716" y="1783080"/>
            <a:ext cx="548640" cy="548640"/>
          </a:xfrm>
          <a:prstGeom prst="ellipse">
            <a:avLst/>
          </a:prstGeom>
          <a:solidFill>
            <a:schemeClr val="tx2"/>
          </a:solidFill>
          <a:ln w="12700">
            <a:solidFill>
              <a:schemeClr val="tx2"/>
            </a:solidFill>
            <a:prstDash val="solid"/>
          </a:ln>
        </p:spPr>
      </p:sp>
      <p:pic>
        <p:nvPicPr>
          <p:cNvPr id="22" name="Image 1" descr="Size on evidence">    </p:cNvPr>
          <p:cNvPicPr>
            <a:picLocks noChangeAspect="1"/>
          </p:cNvPicPr>
          <p:nvPr/>
        </p:nvPicPr>
        <p:blipFill>
          <a:blip r:embed="rId2"/>
          <a:stretch>
            <a:fillRect/>
          </a:stretch>
        </p:blipFill>
        <p:spPr>
          <a:xfrm>
            <a:off x="4722876" y="1920240"/>
            <a:ext cx="274320" cy="274320"/>
          </a:xfrm>
          <a:prstGeom prst="rect">
            <a:avLst/>
          </a:prstGeom>
        </p:spPr>
      </p:pic>
      <p:sp>
        <p:nvSpPr>
          <p:cNvPr id="23" name="Text 19"/>
          <p:cNvSpPr txBox="1"/>
          <p:nvPr/>
        </p:nvSpPr>
        <p:spPr>
          <a:xfrm>
            <a:off x="5271516" y="1783080"/>
            <a:ext cx="2377440" cy="548640"/>
          </a:xfrm>
          <a:prstGeom prst="rect">
            <a:avLst/>
          </a:prstGeom>
          <a:noFill/>
          <a:ln/>
        </p:spPr>
        <p:txBody>
          <a:bodyPr wrap="square" lIns="0" tIns="0" rIns="0" bIns="0" rtlCol="0" anchor="ctr"/>
          <a:lstStyle/>
          <a:p>
            <a:pPr indent="0" marL="0">
              <a:buNone/>
            </a:pPr>
            <a:r>
              <a:rPr lang="en-US" sz="1800" b="1" dirty="0">
                <a:solidFill>
                  <a:schemeClr val="tx1"/>
                </a:solidFill>
              </a:rPr>
              <a:t>2  Size on evidence</a:t>
            </a:r>
            <a:endParaRPr lang="en-US" sz="1800" dirty="0"/>
          </a:p>
        </p:txBody>
      </p:sp>
      <p:sp>
        <p:nvSpPr>
          <p:cNvPr id="24" name="Text 20"/>
          <p:cNvSpPr txBox="1"/>
          <p:nvPr/>
        </p:nvSpPr>
        <p:spPr>
          <a:xfrm>
            <a:off x="4585716" y="2560320"/>
            <a:ext cx="3063240" cy="219456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tx1"/>
                </a:solidFill>
              </a:rPr>
              <a:t>Rerun JVM heap analysis after cleanup</a:t>
            </a:r>
            <a:endParaRPr lang="en-US" sz="1400" dirty="0"/>
          </a:p>
          <a:p>
            <a:pPr marL="342900" indent="-342900">
              <a:spcAft>
                <a:spcPts val="900"/>
              </a:spcAft>
              <a:buSzPct val="100000"/>
              <a:buChar char="•"/>
            </a:pPr>
            <a:r>
              <a:rPr lang="en-US" sz="1400" dirty="0">
                <a:solidFill>
                  <a:schemeClr val="tx1"/>
                </a:solidFill>
              </a:rPr>
              <a:t>Then decide: more heap/RAM or more brokers</a:t>
            </a:r>
            <a:endParaRPr lang="en-US" sz="1400" dirty="0"/>
          </a:p>
          <a:p>
            <a:pPr marL="342900" indent="-342900">
              <a:spcAft>
                <a:spcPts val="900"/>
              </a:spcAft>
              <a:buSzPct val="100000"/>
              <a:buChar char="•"/>
            </a:pPr>
            <a:r>
              <a:rPr lang="en-US" sz="1400" dirty="0">
                <a:solidFill>
                  <a:schemeClr val="tx1"/>
                </a:solidFill>
              </a:rPr>
              <a:t>Measure CPU and election time on a restart</a:t>
            </a:r>
            <a:endParaRPr lang="en-US" sz="1400" dirty="0"/>
          </a:p>
          <a:p>
            <a:pPr marL="342900" indent="-342900">
              <a:spcAft>
                <a:spcPts val="900"/>
              </a:spcAft>
              <a:buSzPct val="100000"/>
              <a:buChar char="•"/>
            </a:pPr>
            <a:r>
              <a:rPr lang="en-US" sz="1400" dirty="0">
                <a:solidFill>
                  <a:schemeClr val="tx1"/>
                </a:solidFill>
              </a:rPr>
              <a:t>Attach AMR's 24 idle VMs before buying more</a:t>
            </a:r>
            <a:endParaRPr lang="en-US" sz="1400" dirty="0"/>
          </a:p>
        </p:txBody>
      </p:sp>
      <p:sp>
        <p:nvSpPr>
          <p:cNvPr id="25" name="KPI pill 2"/>
          <p:cNvSpPr/>
          <p:nvPr/>
        </p:nvSpPr>
        <p:spPr>
          <a:xfrm>
            <a:off x="4585716" y="4800600"/>
            <a:ext cx="3017520" cy="457200"/>
          </a:xfrm>
          <a:prstGeom prst="roundRect">
            <a:avLst>
              <a:gd name="adj" fmla="val 50000"/>
            </a:avLst>
          </a:prstGeom>
          <a:solidFill>
            <a:schemeClr val="bg1"/>
          </a:solidFill>
          <a:ln w="12700">
            <a:solidFill>
              <a:schemeClr val="bg1"/>
            </a:solidFill>
            <a:prstDash val="solid"/>
          </a:ln>
        </p:spPr>
      </p:sp>
      <p:sp>
        <p:nvSpPr>
          <p:cNvPr id="26" name="Text 22"/>
          <p:cNvSpPr txBox="1"/>
          <p:nvPr/>
        </p:nvSpPr>
        <p:spPr>
          <a:xfrm>
            <a:off x="4585716" y="4800600"/>
            <a:ext cx="3017520" cy="457200"/>
          </a:xfrm>
          <a:prstGeom prst="rect">
            <a:avLst/>
          </a:prstGeom>
          <a:noFill/>
          <a:ln/>
        </p:spPr>
        <p:txBody>
          <a:bodyPr wrap="square" lIns="0" tIns="0" rIns="0" bIns="0" rtlCol="0" anchor="ctr"/>
          <a:lstStyle/>
          <a:p>
            <a:pPr algn="ctr" indent="0" marL="0">
              <a:buNone/>
            </a:pPr>
            <a:r>
              <a:rPr lang="en-US" sz="1200" b="1" dirty="0">
                <a:solidFill>
                  <a:schemeClr val="accent1"/>
                </a:solidFill>
              </a:rPr>
              <a:t>Moves: memory, idle capacity</a:t>
            </a:r>
            <a:endParaRPr lang="en-US" sz="1200" dirty="0"/>
          </a:p>
        </p:txBody>
      </p:sp>
      <p:sp>
        <p:nvSpPr>
          <p:cNvPr id="27" name="Workstream 3"/>
          <p:cNvSpPr/>
          <p:nvPr/>
        </p:nvSpPr>
        <p:spPr>
          <a:xfrm>
            <a:off x="8165592" y="1508760"/>
            <a:ext cx="3566160" cy="4023360"/>
          </a:xfrm>
          <a:prstGeom prst="roundRect">
            <a:avLst>
              <a:gd name="adj" fmla="val 2051"/>
            </a:avLst>
          </a:prstGeom>
          <a:solidFill>
            <a:schemeClr val="bg2"/>
          </a:solidFill>
          <a:ln w="12700">
            <a:solidFill>
              <a:schemeClr val="bg2"/>
            </a:solidFill>
            <a:prstDash val="solid"/>
          </a:ln>
        </p:spPr>
      </p:sp>
      <p:sp>
        <p:nvSpPr>
          <p:cNvPr id="28" name="Workstream icon bg 3"/>
          <p:cNvSpPr/>
          <p:nvPr/>
        </p:nvSpPr>
        <p:spPr>
          <a:xfrm>
            <a:off x="8439912" y="1783080"/>
            <a:ext cx="548640" cy="548640"/>
          </a:xfrm>
          <a:prstGeom prst="ellipse">
            <a:avLst/>
          </a:prstGeom>
          <a:solidFill>
            <a:schemeClr val="tx2"/>
          </a:solidFill>
          <a:ln w="12700">
            <a:solidFill>
              <a:schemeClr val="tx2"/>
            </a:solidFill>
            <a:prstDash val="solid"/>
          </a:ln>
        </p:spPr>
      </p:sp>
      <p:pic>
        <p:nvPicPr>
          <p:cNvPr id="29" name="Image 2" descr="Harden &amp; prepare">    </p:cNvPr>
          <p:cNvPicPr>
            <a:picLocks noChangeAspect="1"/>
          </p:cNvPicPr>
          <p:nvPr/>
        </p:nvPicPr>
        <p:blipFill>
          <a:blip r:embed="rId3"/>
          <a:stretch>
            <a:fillRect/>
          </a:stretch>
        </p:blipFill>
        <p:spPr>
          <a:xfrm>
            <a:off x="8577072" y="1920240"/>
            <a:ext cx="274320" cy="274320"/>
          </a:xfrm>
          <a:prstGeom prst="rect">
            <a:avLst/>
          </a:prstGeom>
        </p:spPr>
      </p:pic>
      <p:sp>
        <p:nvSpPr>
          <p:cNvPr id="30" name="Text 25"/>
          <p:cNvSpPr txBox="1"/>
          <p:nvPr/>
        </p:nvSpPr>
        <p:spPr>
          <a:xfrm>
            <a:off x="9125712" y="1783080"/>
            <a:ext cx="2377440" cy="548640"/>
          </a:xfrm>
          <a:prstGeom prst="rect">
            <a:avLst/>
          </a:prstGeom>
          <a:noFill/>
          <a:ln/>
        </p:spPr>
        <p:txBody>
          <a:bodyPr wrap="square" lIns="0" tIns="0" rIns="0" bIns="0" rtlCol="0" anchor="ctr"/>
          <a:lstStyle/>
          <a:p>
            <a:pPr indent="0" marL="0">
              <a:buNone/>
            </a:pPr>
            <a:r>
              <a:rPr lang="en-US" sz="1800" b="1" dirty="0">
                <a:solidFill>
                  <a:schemeClr val="tx1"/>
                </a:solidFill>
              </a:rPr>
              <a:t>3  Harden &amp; prepare</a:t>
            </a:r>
            <a:endParaRPr lang="en-US" sz="1800" dirty="0"/>
          </a:p>
        </p:txBody>
      </p:sp>
      <p:sp>
        <p:nvSpPr>
          <p:cNvPr id="31" name="Text 26"/>
          <p:cNvSpPr txBox="1"/>
          <p:nvPr/>
        </p:nvSpPr>
        <p:spPr>
          <a:xfrm>
            <a:off x="8439912" y="2560320"/>
            <a:ext cx="3063240" cy="219456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tx1"/>
                </a:solidFill>
              </a:rPr>
              <a:t>Patch or formally accept open CVEs</a:t>
            </a:r>
            <a:endParaRPr lang="en-US" sz="1400" dirty="0"/>
          </a:p>
          <a:p>
            <a:pPr marL="342900" indent="-342900">
              <a:spcAft>
                <a:spcPts val="900"/>
              </a:spcAft>
              <a:buSzPct val="100000"/>
              <a:buChar char="•"/>
            </a:pPr>
            <a:r>
              <a:rPr lang="en-US" sz="1400" dirty="0">
                <a:solidFill>
                  <a:schemeClr val="tx1"/>
                </a:solidFill>
              </a:rPr>
              <a:t>Exit RHEL 7; decommission GL VMs</a:t>
            </a:r>
            <a:endParaRPr lang="en-US" sz="1400" dirty="0"/>
          </a:p>
          <a:p>
            <a:pPr marL="342900" indent="-342900">
              <a:spcAft>
                <a:spcPts val="900"/>
              </a:spcAft>
              <a:buSzPct val="100000"/>
              <a:buChar char="•"/>
            </a:pPr>
            <a:r>
              <a:rPr lang="en-US" sz="1400" dirty="0">
                <a:solidFill>
                  <a:schemeClr val="tx1"/>
                </a:solidFill>
              </a:rPr>
              <a:t>Confirm path: 2.8 → 3.9 (KRaft) → 4.x on Java 17</a:t>
            </a:r>
            <a:endParaRPr lang="en-US" sz="1400" dirty="0"/>
          </a:p>
          <a:p>
            <a:pPr marL="342900" indent="-342900">
              <a:spcAft>
                <a:spcPts val="900"/>
              </a:spcAft>
              <a:buSzPct val="100000"/>
              <a:buChar char="•"/>
            </a:pPr>
            <a:r>
              <a:rPr lang="en-US" sz="1400" dirty="0">
                <a:solidFill>
                  <a:schemeClr val="tx1"/>
                </a:solidFill>
              </a:rPr>
              <a:t>Map workloads for BSP 2.0 placement</a:t>
            </a:r>
            <a:endParaRPr lang="en-US" sz="1400" dirty="0"/>
          </a:p>
        </p:txBody>
      </p:sp>
      <p:sp>
        <p:nvSpPr>
          <p:cNvPr id="32" name="KPI pill 3"/>
          <p:cNvSpPr/>
          <p:nvPr/>
        </p:nvSpPr>
        <p:spPr>
          <a:xfrm>
            <a:off x="8439912" y="4800600"/>
            <a:ext cx="3017520" cy="457200"/>
          </a:xfrm>
          <a:prstGeom prst="roundRect">
            <a:avLst>
              <a:gd name="adj" fmla="val 50000"/>
            </a:avLst>
          </a:prstGeom>
          <a:solidFill>
            <a:schemeClr val="bg1"/>
          </a:solidFill>
          <a:ln w="12700">
            <a:solidFill>
              <a:schemeClr val="bg1"/>
            </a:solidFill>
            <a:prstDash val="solid"/>
          </a:ln>
        </p:spPr>
      </p:sp>
      <p:sp>
        <p:nvSpPr>
          <p:cNvPr id="33" name="Text 28"/>
          <p:cNvSpPr txBox="1"/>
          <p:nvPr/>
        </p:nvSpPr>
        <p:spPr>
          <a:xfrm>
            <a:off x="8439912" y="4800600"/>
            <a:ext cx="3017520" cy="457200"/>
          </a:xfrm>
          <a:prstGeom prst="rect">
            <a:avLst/>
          </a:prstGeom>
          <a:noFill/>
          <a:ln/>
        </p:spPr>
        <p:txBody>
          <a:bodyPr wrap="square" lIns="0" tIns="0" rIns="0" bIns="0" rtlCol="0" anchor="ctr"/>
          <a:lstStyle/>
          <a:p>
            <a:pPr algn="ctr" indent="0" marL="0">
              <a:buNone/>
            </a:pPr>
            <a:r>
              <a:rPr lang="en-US" sz="1200" b="1" dirty="0">
                <a:solidFill>
                  <a:schemeClr val="accent1"/>
                </a:solidFill>
              </a:rPr>
              <a:t>Moves: security, upgrade readiness</a:t>
            </a:r>
            <a:endParaRPr lang="en-US" sz="1200" dirty="0"/>
          </a:p>
        </p:txBody>
      </p:sp>
      <p:sp>
        <p:nvSpPr>
          <p:cNvPr id="34" name="Text 29"/>
          <p:cNvSpPr txBox="1"/>
          <p:nvPr/>
        </p:nvSpPr>
        <p:spPr>
          <a:xfrm>
            <a:off x="457200" y="5715000"/>
            <a:ext cx="11274552" cy="365760"/>
          </a:xfrm>
          <a:prstGeom prst="rect">
            <a:avLst/>
          </a:prstGeom>
          <a:noFill/>
          <a:ln/>
        </p:spPr>
        <p:txBody>
          <a:bodyPr wrap="square" lIns="0" tIns="0" rIns="0" bIns="0" rtlCol="0" anchor="ctr"/>
          <a:lstStyle/>
          <a:p>
            <a:pPr indent="0" marL="0">
              <a:buNone/>
            </a:pPr>
            <a:r>
              <a:rPr lang="en-US" sz="1300" i="1" dirty="0">
                <a:solidFill>
                  <a:schemeClr val="accent6"/>
                </a:solidFill>
              </a:rPr>
              <a:t>Order matters: shrinking the partition count first tells us whether we need to scale at all – and which way.</a:t>
            </a:r>
            <a:endParaRPr lang="en-US" sz="1300" dirty="0"/>
          </a:p>
        </p:txBody>
      </p:sp>
      <p:sp>
        <p:nvSpPr>
          <p:cNvPr id="25" name="Slide Number Placeholder 0"/>
          <p:cNvSpPr>
            <a:spLocks noGrp="1"/>
          </p:cNvSpPr>
          <p:nvPr>
            <p:ph type="sldNum" sz="quarter" idx="4294967295"/>
          </p:nvPr>
        </p:nvSpPr>
        <p:spPr>
          <a:xfrm>
            <a:off x="457200" y="6382512"/>
            <a:ext cx="3200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tep 1"/>
          <p:cNvSpPr/>
          <p:nvPr/>
        </p:nvSpPr>
        <p:spPr>
          <a:xfrm>
            <a:off x="457200" y="201168"/>
            <a:ext cx="2194560" cy="256032"/>
          </a:xfrm>
          <a:prstGeom prst="roundRect">
            <a:avLst>
              <a:gd name="adj" fmla="val 50000"/>
            </a:avLst>
          </a:prstGeom>
          <a:solidFill>
            <a:schemeClr val="bg2"/>
          </a:solidFill>
          <a:ln w="12700">
            <a:solidFill>
              <a:schemeClr val="bg2"/>
            </a:solidFill>
            <a:prstDash val="solid"/>
          </a:ln>
        </p:spPr>
      </p:sp>
      <p:sp>
        <p:nvSpPr>
          <p:cNvPr id="3" name="Text 1"/>
          <p:cNvSpPr txBox="1"/>
          <p:nvPr/>
        </p:nvSpPr>
        <p:spPr>
          <a:xfrm>
            <a:off x="457200" y="201168"/>
            <a:ext cx="2194560" cy="256032"/>
          </a:xfrm>
          <a:prstGeom prst="rect">
            <a:avLst/>
          </a:prstGeom>
          <a:noFill/>
          <a:ln/>
        </p:spPr>
        <p:txBody>
          <a:bodyPr wrap="square" lIns="0" tIns="0" rIns="0" bIns="0" rtlCol="0" anchor="ctr"/>
          <a:lstStyle/>
          <a:p>
            <a:pPr algn="ctr" indent="0" marL="0">
              <a:buNone/>
            </a:pPr>
            <a:r>
              <a:rPr lang="en-US" sz="950" dirty="0">
                <a:solidFill>
                  <a:schemeClr val="accent6"/>
                </a:solidFill>
              </a:rPr>
              <a:t>1  Why now · Business driver</a:t>
            </a:r>
            <a:endParaRPr lang="en-US" sz="950" dirty="0"/>
          </a:p>
        </p:txBody>
      </p:sp>
      <p:sp>
        <p:nvSpPr>
          <p:cNvPr id="4" name="Step 2"/>
          <p:cNvSpPr/>
          <p:nvPr/>
        </p:nvSpPr>
        <p:spPr>
          <a:xfrm>
            <a:off x="2761488" y="201168"/>
            <a:ext cx="2119579" cy="256032"/>
          </a:xfrm>
          <a:prstGeom prst="roundRect">
            <a:avLst>
              <a:gd name="adj" fmla="val 50000"/>
            </a:avLst>
          </a:prstGeom>
          <a:solidFill>
            <a:schemeClr val="bg2"/>
          </a:solidFill>
          <a:ln w="12700">
            <a:solidFill>
              <a:schemeClr val="bg2"/>
            </a:solidFill>
            <a:prstDash val="solid"/>
          </a:ln>
        </p:spPr>
      </p:sp>
      <p:sp>
        <p:nvSpPr>
          <p:cNvPr id="5" name="Text 3"/>
          <p:cNvSpPr txBox="1"/>
          <p:nvPr/>
        </p:nvSpPr>
        <p:spPr>
          <a:xfrm>
            <a:off x="2761488" y="201168"/>
            <a:ext cx="2119579" cy="256032"/>
          </a:xfrm>
          <a:prstGeom prst="rect">
            <a:avLst/>
          </a:prstGeom>
          <a:noFill/>
          <a:ln/>
        </p:spPr>
        <p:txBody>
          <a:bodyPr wrap="square" lIns="0" tIns="0" rIns="0" bIns="0" rtlCol="0" anchor="ctr"/>
          <a:lstStyle/>
          <a:p>
            <a:pPr algn="ctr" indent="0" marL="0">
              <a:buNone/>
            </a:pPr>
            <a:r>
              <a:rPr lang="en-US" sz="950" dirty="0">
                <a:solidFill>
                  <a:schemeClr val="accent6"/>
                </a:solidFill>
              </a:rPr>
              <a:t>2  The issue · Current risk</a:t>
            </a:r>
            <a:endParaRPr lang="en-US" sz="950" dirty="0"/>
          </a:p>
        </p:txBody>
      </p:sp>
      <p:sp>
        <p:nvSpPr>
          <p:cNvPr id="6" name="Step 3"/>
          <p:cNvSpPr/>
          <p:nvPr/>
        </p:nvSpPr>
        <p:spPr>
          <a:xfrm>
            <a:off x="4990795" y="201168"/>
            <a:ext cx="1744675" cy="256032"/>
          </a:xfrm>
          <a:prstGeom prst="roundRect">
            <a:avLst>
              <a:gd name="adj" fmla="val 50000"/>
            </a:avLst>
          </a:prstGeom>
          <a:solidFill>
            <a:schemeClr val="bg2"/>
          </a:solidFill>
          <a:ln w="12700">
            <a:solidFill>
              <a:schemeClr val="bg2"/>
            </a:solidFill>
            <a:prstDash val="solid"/>
          </a:ln>
        </p:spPr>
      </p:sp>
      <p:sp>
        <p:nvSpPr>
          <p:cNvPr id="7" name="Text 5"/>
          <p:cNvSpPr txBox="1"/>
          <p:nvPr/>
        </p:nvSpPr>
        <p:spPr>
          <a:xfrm>
            <a:off x="4990795" y="201168"/>
            <a:ext cx="1744675" cy="256032"/>
          </a:xfrm>
          <a:prstGeom prst="rect">
            <a:avLst/>
          </a:prstGeom>
          <a:noFill/>
          <a:ln/>
        </p:spPr>
        <p:txBody>
          <a:bodyPr wrap="square" lIns="0" tIns="0" rIns="0" bIns="0" rtlCol="0" anchor="ctr"/>
          <a:lstStyle/>
          <a:p>
            <a:pPr algn="ctr" indent="0" marL="0">
              <a:buNone/>
            </a:pPr>
            <a:r>
              <a:rPr lang="en-US" sz="950" dirty="0">
                <a:solidFill>
                  <a:schemeClr val="accent6"/>
                </a:solidFill>
              </a:rPr>
              <a:t>3  The measures · KPIs</a:t>
            </a:r>
            <a:endParaRPr lang="en-US" sz="950" dirty="0"/>
          </a:p>
        </p:txBody>
      </p:sp>
      <p:sp>
        <p:nvSpPr>
          <p:cNvPr id="8" name="Step 4"/>
          <p:cNvSpPr/>
          <p:nvPr/>
        </p:nvSpPr>
        <p:spPr>
          <a:xfrm>
            <a:off x="6845198" y="201168"/>
            <a:ext cx="1969618" cy="256032"/>
          </a:xfrm>
          <a:prstGeom prst="roundRect">
            <a:avLst>
              <a:gd name="adj" fmla="val 50000"/>
            </a:avLst>
          </a:prstGeom>
          <a:solidFill>
            <a:schemeClr val="bg2"/>
          </a:solidFill>
          <a:ln w="12700">
            <a:solidFill>
              <a:schemeClr val="bg2"/>
            </a:solidFill>
            <a:prstDash val="solid"/>
          </a:ln>
        </p:spPr>
      </p:sp>
      <p:sp>
        <p:nvSpPr>
          <p:cNvPr id="9" name="Text 7"/>
          <p:cNvSpPr txBox="1"/>
          <p:nvPr/>
        </p:nvSpPr>
        <p:spPr>
          <a:xfrm>
            <a:off x="6845198" y="201168"/>
            <a:ext cx="1969618" cy="256032"/>
          </a:xfrm>
          <a:prstGeom prst="rect">
            <a:avLst/>
          </a:prstGeom>
          <a:noFill/>
          <a:ln/>
        </p:spPr>
        <p:txBody>
          <a:bodyPr wrap="square" lIns="0" tIns="0" rIns="0" bIns="0" rtlCol="0" anchor="ctr"/>
          <a:lstStyle/>
          <a:p>
            <a:pPr algn="ctr" indent="0" marL="0">
              <a:buNone/>
            </a:pPr>
            <a:r>
              <a:rPr lang="en-US" sz="950" dirty="0">
                <a:solidFill>
                  <a:schemeClr val="accent6"/>
                </a:solidFill>
              </a:rPr>
              <a:t>4  The plan · Remediation</a:t>
            </a:r>
            <a:endParaRPr lang="en-US" sz="950" dirty="0"/>
          </a:p>
        </p:txBody>
      </p:sp>
      <p:sp>
        <p:nvSpPr>
          <p:cNvPr id="10" name="Step 5"/>
          <p:cNvSpPr/>
          <p:nvPr/>
        </p:nvSpPr>
        <p:spPr>
          <a:xfrm>
            <a:off x="8924544" y="201168"/>
            <a:ext cx="1969618" cy="256032"/>
          </a:xfrm>
          <a:prstGeom prst="roundRect">
            <a:avLst>
              <a:gd name="adj" fmla="val 50000"/>
            </a:avLst>
          </a:prstGeom>
          <a:solidFill>
            <a:schemeClr val="tx2"/>
          </a:solidFill>
          <a:ln w="12700">
            <a:solidFill>
              <a:schemeClr val="tx2"/>
            </a:solidFill>
            <a:prstDash val="solid"/>
          </a:ln>
        </p:spPr>
      </p:sp>
      <p:sp>
        <p:nvSpPr>
          <p:cNvPr id="11" name="Text 9"/>
          <p:cNvSpPr txBox="1"/>
          <p:nvPr/>
        </p:nvSpPr>
        <p:spPr>
          <a:xfrm>
            <a:off x="8924544" y="201168"/>
            <a:ext cx="1969618" cy="256032"/>
          </a:xfrm>
          <a:prstGeom prst="rect">
            <a:avLst/>
          </a:prstGeom>
          <a:noFill/>
          <a:ln/>
        </p:spPr>
        <p:txBody>
          <a:bodyPr wrap="square" lIns="0" tIns="0" rIns="0" bIns="0" rtlCol="0" anchor="ctr"/>
          <a:lstStyle/>
          <a:p>
            <a:pPr algn="ctr" indent="0" marL="0">
              <a:buNone/>
            </a:pPr>
            <a:r>
              <a:rPr lang="en-US" sz="950" b="1" dirty="0">
                <a:solidFill>
                  <a:schemeClr val="bg1"/>
                </a:solidFill>
              </a:rPr>
              <a:t>5  The timeline · Roadmap</a:t>
            </a:r>
            <a:endParaRPr lang="en-US" sz="950" dirty="0"/>
          </a:p>
        </p:txBody>
      </p:sp>
      <p:sp>
        <p:nvSpPr>
          <p:cNvPr id="12" name="Text 0"/>
          <p:cNvSpPr/>
          <p:nvPr>
            <p:ph idx="100" type="title" hasCustomPrompt="1"/>
          </p:nvPr>
        </p:nvSpPr>
        <p:spPr>
          <a:xfrm>
            <a:off x="457200" y="566928"/>
            <a:ext cx="11274552" cy="685800"/>
          </a:xfrm>
          <a:prstGeom prst="rect">
            <a:avLst/>
          </a:prstGeom>
          <a:noFill/>
          <a:ln/>
        </p:spPr>
        <p:txBody>
          <a:bodyPr wrap="square" lIns="0" tIns="0" rIns="0" bIns="0" rtlCol="0" anchor="t"/>
          <a:lstStyle/>
          <a:p>
            <a:pPr algn="l" indent="0" marL="0">
              <a:buNone/>
            </a:pPr>
            <a:r>
              <a:rPr lang="en-US" sz="2800" b="1" dirty="0">
                <a:solidFill>
                  <a:schemeClr val="tx1"/>
                </a:solidFill>
              </a:rPr>
              <a:t>The timeline: 10 weeks, three gates, results reported weekly</a:t>
            </a:r>
            <a:endParaRPr lang="en-US" sz="2800" dirty="0"/>
          </a:p>
        </p:txBody>
      </p:sp>
      <p:sp>
        <p:nvSpPr>
          <p:cNvPr id="13" name="Phase 1"/>
          <p:cNvSpPr/>
          <p:nvPr/>
        </p:nvSpPr>
        <p:spPr>
          <a:xfrm>
            <a:off x="457200" y="1508760"/>
            <a:ext cx="3566160" cy="777240"/>
          </a:xfrm>
          <a:prstGeom prst="chevron">
            <a:avLst/>
          </a:prstGeom>
          <a:solidFill>
            <a:schemeClr val="tx2"/>
          </a:solidFill>
          <a:ln w="12700">
            <a:solidFill>
              <a:schemeClr val="bg1"/>
            </a:solidFill>
            <a:prstDash val="solid"/>
          </a:ln>
        </p:spPr>
      </p:sp>
      <p:sp>
        <p:nvSpPr>
          <p:cNvPr id="14" name="Text 12"/>
          <p:cNvSpPr txBox="1"/>
          <p:nvPr/>
        </p:nvSpPr>
        <p:spPr>
          <a:xfrm>
            <a:off x="822960" y="1508760"/>
            <a:ext cx="2834640" cy="777240"/>
          </a:xfrm>
          <a:prstGeom prst="rect">
            <a:avLst/>
          </a:prstGeom>
          <a:noFill/>
          <a:ln/>
        </p:spPr>
        <p:txBody>
          <a:bodyPr wrap="square" lIns="0" tIns="0" rIns="0" bIns="0" rtlCol="0" anchor="ctr"/>
          <a:lstStyle/>
          <a:p>
            <a:pPr algn="ctr" indent="0" marL="0">
              <a:buNone/>
            </a:pPr>
            <a:r>
              <a:rPr lang="en-US" sz="2000" b="1" dirty="0">
                <a:solidFill>
                  <a:schemeClr val="bg1"/>
                </a:solidFill>
              </a:rPr>
              <a:t>Weeks 1–3</a:t>
            </a:r>
            <a:endParaRPr lang="en-US" sz="2000" dirty="0"/>
          </a:p>
        </p:txBody>
      </p:sp>
      <p:sp>
        <p:nvSpPr>
          <p:cNvPr id="15" name="Phase detail 1"/>
          <p:cNvSpPr/>
          <p:nvPr/>
        </p:nvSpPr>
        <p:spPr>
          <a:xfrm>
            <a:off x="457200" y="2468880"/>
            <a:ext cx="3566160" cy="1828800"/>
          </a:xfrm>
          <a:prstGeom prst="roundRect">
            <a:avLst>
              <a:gd name="adj" fmla="val 4000"/>
            </a:avLst>
          </a:prstGeom>
          <a:solidFill>
            <a:schemeClr val="bg2"/>
          </a:solidFill>
          <a:ln w="12700">
            <a:solidFill>
              <a:schemeClr val="bg2"/>
            </a:solidFill>
            <a:prstDash val="solid"/>
          </a:ln>
        </p:spPr>
      </p:sp>
      <p:sp>
        <p:nvSpPr>
          <p:cNvPr id="16" name="Text 14"/>
          <p:cNvSpPr txBox="1"/>
          <p:nvPr/>
        </p:nvSpPr>
        <p:spPr>
          <a:xfrm>
            <a:off x="731520" y="2624328"/>
            <a:ext cx="3017520" cy="1600200"/>
          </a:xfrm>
          <a:prstGeom prst="rect">
            <a:avLst/>
          </a:prstGeom>
          <a:noFill/>
          <a:ln/>
        </p:spPr>
        <p:txBody>
          <a:bodyPr wrap="square" lIns="0" tIns="0" rIns="0" bIns="0" rtlCol="0" anchor="t"/>
          <a:lstStyle/>
          <a:p>
            <a:pPr indent="0" marL="0">
              <a:spcAft>
                <a:spcPts val="800"/>
              </a:spcAft>
              <a:buNone/>
            </a:pPr>
            <a:r>
              <a:rPr lang="en-US" sz="1600" b="1" dirty="0">
                <a:solidFill>
                  <a:schemeClr val="tx1"/>
                </a:solidFill>
              </a:rPr>
              <a:t>1  Discovery &amp; audit</a:t>
            </a:r>
            <a:endParaRPr lang="en-US" sz="1600" dirty="0"/>
          </a:p>
          <a:p>
            <a:pPr indent="0" marL="0">
              <a:buNone/>
            </a:pPr>
            <a:r>
              <a:rPr lang="en-US" sz="1300" b="1" dirty="0">
                <a:solidFill>
                  <a:schemeClr val="accent6"/>
                </a:solidFill>
              </a:rPr>
              <a:t>Output: </a:t>
            </a:r>
            <a:pPr indent="0" marL="0">
              <a:spcAft>
                <a:spcPts val="1000"/>
              </a:spcAft>
              <a:buNone/>
            </a:pPr>
            <a:r>
              <a:rPr lang="en-US" sz="1300" dirty="0">
                <a:solidFill>
                  <a:schemeClr val="tx1"/>
                </a:solidFill>
              </a:rPr>
              <a:t>Inventory across all regions, risk register, KPI baselines</a:t>
            </a:r>
            <a:endParaRPr lang="en-US" sz="1600" dirty="0"/>
          </a:p>
          <a:p>
            <a:pPr indent="0" marL="0">
              <a:buNone/>
            </a:pPr>
            <a:r>
              <a:rPr lang="en-US" sz="1300" b="1" dirty="0">
                <a:solidFill>
                  <a:schemeClr val="accent1"/>
                </a:solidFill>
              </a:rPr>
              <a:t>Gate 1: Inventory and findings accepted</a:t>
            </a:r>
            <a:endParaRPr lang="en-US" sz="1600" dirty="0"/>
          </a:p>
        </p:txBody>
      </p:sp>
      <p:sp>
        <p:nvSpPr>
          <p:cNvPr id="17" name="Phase 2"/>
          <p:cNvSpPr/>
          <p:nvPr/>
        </p:nvSpPr>
        <p:spPr>
          <a:xfrm>
            <a:off x="4311396" y="1508760"/>
            <a:ext cx="3566160" cy="777240"/>
          </a:xfrm>
          <a:prstGeom prst="chevron">
            <a:avLst/>
          </a:prstGeom>
          <a:solidFill>
            <a:schemeClr val="tx2"/>
          </a:solidFill>
          <a:ln w="12700">
            <a:solidFill>
              <a:schemeClr val="bg1"/>
            </a:solidFill>
            <a:prstDash val="solid"/>
          </a:ln>
        </p:spPr>
      </p:sp>
      <p:sp>
        <p:nvSpPr>
          <p:cNvPr id="18" name="Text 16"/>
          <p:cNvSpPr txBox="1"/>
          <p:nvPr/>
        </p:nvSpPr>
        <p:spPr>
          <a:xfrm>
            <a:off x="4677156" y="1508760"/>
            <a:ext cx="2834640" cy="777240"/>
          </a:xfrm>
          <a:prstGeom prst="rect">
            <a:avLst/>
          </a:prstGeom>
          <a:noFill/>
          <a:ln/>
        </p:spPr>
        <p:txBody>
          <a:bodyPr wrap="square" lIns="0" tIns="0" rIns="0" bIns="0" rtlCol="0" anchor="ctr"/>
          <a:lstStyle/>
          <a:p>
            <a:pPr algn="ctr" indent="0" marL="0">
              <a:buNone/>
            </a:pPr>
            <a:r>
              <a:rPr lang="en-US" sz="2000" b="1" dirty="0">
                <a:solidFill>
                  <a:schemeClr val="bg1"/>
                </a:solidFill>
              </a:rPr>
              <a:t>Weeks 4–5</a:t>
            </a:r>
            <a:endParaRPr lang="en-US" sz="2000" dirty="0"/>
          </a:p>
        </p:txBody>
      </p:sp>
      <p:sp>
        <p:nvSpPr>
          <p:cNvPr id="19" name="Phase detail 2"/>
          <p:cNvSpPr/>
          <p:nvPr/>
        </p:nvSpPr>
        <p:spPr>
          <a:xfrm>
            <a:off x="4311396" y="2468880"/>
            <a:ext cx="3566160" cy="1828800"/>
          </a:xfrm>
          <a:prstGeom prst="roundRect">
            <a:avLst>
              <a:gd name="adj" fmla="val 4000"/>
            </a:avLst>
          </a:prstGeom>
          <a:solidFill>
            <a:schemeClr val="bg2"/>
          </a:solidFill>
          <a:ln w="12700">
            <a:solidFill>
              <a:schemeClr val="bg2"/>
            </a:solidFill>
            <a:prstDash val="solid"/>
          </a:ln>
        </p:spPr>
      </p:sp>
      <p:sp>
        <p:nvSpPr>
          <p:cNvPr id="20" name="Text 18"/>
          <p:cNvSpPr txBox="1"/>
          <p:nvPr/>
        </p:nvSpPr>
        <p:spPr>
          <a:xfrm>
            <a:off x="4585716" y="2624328"/>
            <a:ext cx="3017520" cy="1600200"/>
          </a:xfrm>
          <a:prstGeom prst="rect">
            <a:avLst/>
          </a:prstGeom>
          <a:noFill/>
          <a:ln/>
        </p:spPr>
        <p:txBody>
          <a:bodyPr wrap="square" lIns="0" tIns="0" rIns="0" bIns="0" rtlCol="0" anchor="t"/>
          <a:lstStyle/>
          <a:p>
            <a:pPr indent="0" marL="0">
              <a:spcAft>
                <a:spcPts val="800"/>
              </a:spcAft>
              <a:buNone/>
            </a:pPr>
            <a:r>
              <a:rPr lang="en-US" sz="1600" b="1" dirty="0">
                <a:solidFill>
                  <a:schemeClr val="tx1"/>
                </a:solidFill>
              </a:rPr>
              <a:t>2  Remediation planning</a:t>
            </a:r>
            <a:endParaRPr lang="en-US" sz="1600" dirty="0"/>
          </a:p>
          <a:p>
            <a:pPr indent="0" marL="0">
              <a:buNone/>
            </a:pPr>
            <a:r>
              <a:rPr lang="en-US" sz="1300" b="1" dirty="0">
                <a:solidFill>
                  <a:schemeClr val="accent6"/>
                </a:solidFill>
              </a:rPr>
              <a:t>Output: </a:t>
            </a:r>
            <a:pPr indent="0" marL="0">
              <a:spcAft>
                <a:spcPts val="1000"/>
              </a:spcAft>
              <a:buNone/>
            </a:pPr>
            <a:r>
              <a:rPr lang="en-US" sz="1300" dirty="0">
                <a:solidFill>
                  <a:schemeClr val="tx1"/>
                </a:solidFill>
              </a:rPr>
              <a:t>Prioritised cleanup plan with owners and change windows</a:t>
            </a:r>
            <a:endParaRPr lang="en-US" sz="1600" dirty="0"/>
          </a:p>
          <a:p>
            <a:pPr indent="0" marL="0">
              <a:buNone/>
            </a:pPr>
            <a:r>
              <a:rPr lang="en-US" sz="1300" b="1" dirty="0">
                <a:solidFill>
                  <a:schemeClr val="accent1"/>
                </a:solidFill>
              </a:rPr>
              <a:t>Gate 2: Plan and KPI targets approved</a:t>
            </a:r>
            <a:endParaRPr lang="en-US" sz="1600" dirty="0"/>
          </a:p>
        </p:txBody>
      </p:sp>
      <p:sp>
        <p:nvSpPr>
          <p:cNvPr id="21" name="Phase 3"/>
          <p:cNvSpPr/>
          <p:nvPr/>
        </p:nvSpPr>
        <p:spPr>
          <a:xfrm>
            <a:off x="8165592" y="1508760"/>
            <a:ext cx="3566160" cy="777240"/>
          </a:xfrm>
          <a:prstGeom prst="chevron">
            <a:avLst/>
          </a:prstGeom>
          <a:solidFill>
            <a:schemeClr val="accent1"/>
          </a:solidFill>
          <a:ln w="12700">
            <a:solidFill>
              <a:schemeClr val="bg1"/>
            </a:solidFill>
            <a:prstDash val="solid"/>
          </a:ln>
        </p:spPr>
      </p:sp>
      <p:sp>
        <p:nvSpPr>
          <p:cNvPr id="22" name="Text 20"/>
          <p:cNvSpPr txBox="1"/>
          <p:nvPr/>
        </p:nvSpPr>
        <p:spPr>
          <a:xfrm>
            <a:off x="8531352" y="1508760"/>
            <a:ext cx="2834640" cy="777240"/>
          </a:xfrm>
          <a:prstGeom prst="rect">
            <a:avLst/>
          </a:prstGeom>
          <a:noFill/>
          <a:ln/>
        </p:spPr>
        <p:txBody>
          <a:bodyPr wrap="square" lIns="0" tIns="0" rIns="0" bIns="0" rtlCol="0" anchor="ctr"/>
          <a:lstStyle/>
          <a:p>
            <a:pPr algn="ctr" indent="0" marL="0">
              <a:buNone/>
            </a:pPr>
            <a:r>
              <a:rPr lang="en-US" sz="2000" b="1" dirty="0">
                <a:solidFill>
                  <a:schemeClr val="bg1"/>
                </a:solidFill>
              </a:rPr>
              <a:t>Weeks 6–10+</a:t>
            </a:r>
            <a:endParaRPr lang="en-US" sz="2000" dirty="0"/>
          </a:p>
        </p:txBody>
      </p:sp>
      <p:sp>
        <p:nvSpPr>
          <p:cNvPr id="23" name="Phase detail 3"/>
          <p:cNvSpPr/>
          <p:nvPr/>
        </p:nvSpPr>
        <p:spPr>
          <a:xfrm>
            <a:off x="8165592" y="2468880"/>
            <a:ext cx="3566160" cy="1828800"/>
          </a:xfrm>
          <a:prstGeom prst="roundRect">
            <a:avLst>
              <a:gd name="adj" fmla="val 4000"/>
            </a:avLst>
          </a:prstGeom>
          <a:solidFill>
            <a:schemeClr val="bg2"/>
          </a:solidFill>
          <a:ln w="12700">
            <a:solidFill>
              <a:schemeClr val="bg2"/>
            </a:solidFill>
            <a:prstDash val="solid"/>
          </a:ln>
        </p:spPr>
      </p:sp>
      <p:sp>
        <p:nvSpPr>
          <p:cNvPr id="24" name="Text 22"/>
          <p:cNvSpPr txBox="1"/>
          <p:nvPr/>
        </p:nvSpPr>
        <p:spPr>
          <a:xfrm>
            <a:off x="8439912" y="2624328"/>
            <a:ext cx="3017520" cy="1600200"/>
          </a:xfrm>
          <a:prstGeom prst="rect">
            <a:avLst/>
          </a:prstGeom>
          <a:noFill/>
          <a:ln/>
        </p:spPr>
        <p:txBody>
          <a:bodyPr wrap="square" lIns="0" tIns="0" rIns="0" bIns="0" rtlCol="0" anchor="t"/>
          <a:lstStyle/>
          <a:p>
            <a:pPr indent="0" marL="0">
              <a:spcAft>
                <a:spcPts val="800"/>
              </a:spcAft>
              <a:buNone/>
            </a:pPr>
            <a:r>
              <a:rPr lang="en-US" sz="1600" b="1" dirty="0">
                <a:solidFill>
                  <a:schemeClr val="tx1"/>
                </a:solidFill>
              </a:rPr>
              <a:t>3  Cleanup &amp; validation</a:t>
            </a:r>
            <a:endParaRPr lang="en-US" sz="1600" dirty="0"/>
          </a:p>
          <a:p>
            <a:pPr indent="0" marL="0">
              <a:buNone/>
            </a:pPr>
            <a:r>
              <a:rPr lang="en-US" sz="1300" b="1" dirty="0">
                <a:solidFill>
                  <a:schemeClr val="accent6"/>
                </a:solidFill>
              </a:rPr>
              <a:t>Output: </a:t>
            </a:r>
            <a:pPr indent="0" marL="0">
              <a:spcAft>
                <a:spcPts val="1000"/>
              </a:spcAft>
              <a:buNone/>
            </a:pPr>
            <a:r>
              <a:rPr lang="en-US" sz="1300" dirty="0">
                <a:solidFill>
                  <a:schemeClr val="tx1"/>
                </a:solidFill>
              </a:rPr>
              <a:t>UAT then PROD cleanup; JVM re-scan; scaling decision</a:t>
            </a:r>
            <a:endParaRPr lang="en-US" sz="1600" dirty="0"/>
          </a:p>
          <a:p>
            <a:pPr indent="0" marL="0">
              <a:buNone/>
            </a:pPr>
            <a:r>
              <a:rPr lang="en-US" sz="1300" b="1" dirty="0">
                <a:solidFill>
                  <a:schemeClr val="accent1"/>
                </a:solidFill>
              </a:rPr>
              <a:t>Gate 3: Fixes verified, residual risks signed off</a:t>
            </a:r>
            <a:endParaRPr lang="en-US" sz="1600" dirty="0"/>
          </a:p>
        </p:txBody>
      </p:sp>
      <p:sp>
        <p:nvSpPr>
          <p:cNvPr id="25" name="Decisions"/>
          <p:cNvSpPr/>
          <p:nvPr/>
        </p:nvSpPr>
        <p:spPr>
          <a:xfrm>
            <a:off x="457200" y="4572000"/>
            <a:ext cx="11274552" cy="1463040"/>
          </a:xfrm>
          <a:prstGeom prst="roundRect">
            <a:avLst>
              <a:gd name="adj" fmla="val 5000"/>
            </a:avLst>
          </a:prstGeom>
          <a:solidFill>
            <a:schemeClr val="tx2"/>
          </a:solidFill>
          <a:ln w="12700">
            <a:solidFill>
              <a:schemeClr val="tx2"/>
            </a:solidFill>
            <a:prstDash val="solid"/>
          </a:ln>
        </p:spPr>
      </p:sp>
      <p:sp>
        <p:nvSpPr>
          <p:cNvPr id="26" name="Text 24"/>
          <p:cNvSpPr txBox="1"/>
          <p:nvPr/>
        </p:nvSpPr>
        <p:spPr>
          <a:xfrm>
            <a:off x="731520" y="4681728"/>
            <a:ext cx="3657600" cy="365760"/>
          </a:xfrm>
          <a:prstGeom prst="rect">
            <a:avLst/>
          </a:prstGeom>
          <a:noFill/>
          <a:ln/>
        </p:spPr>
        <p:txBody>
          <a:bodyPr wrap="square" lIns="0" tIns="0" rIns="0" bIns="0" rtlCol="0" anchor="ctr"/>
          <a:lstStyle/>
          <a:p>
            <a:pPr indent="0" marL="0">
              <a:buNone/>
            </a:pPr>
            <a:r>
              <a:rPr lang="en-US" sz="1600" b="1" dirty="0">
                <a:solidFill>
                  <a:schemeClr val="accent2"/>
                </a:solidFill>
              </a:rPr>
              <a:t>Decisions needed today</a:t>
            </a:r>
            <a:endParaRPr lang="en-US" sz="1600" dirty="0"/>
          </a:p>
        </p:txBody>
      </p:sp>
      <p:sp>
        <p:nvSpPr>
          <p:cNvPr id="27" name="Decision 1"/>
          <p:cNvSpPr/>
          <p:nvPr/>
        </p:nvSpPr>
        <p:spPr>
          <a:xfrm>
            <a:off x="731520" y="5257800"/>
            <a:ext cx="411480" cy="411480"/>
          </a:xfrm>
          <a:prstGeom prst="ellipse">
            <a:avLst/>
          </a:prstGeom>
          <a:solidFill>
            <a:schemeClr val="accent2"/>
          </a:solidFill>
          <a:ln w="12700">
            <a:solidFill>
              <a:schemeClr val="accent2"/>
            </a:solidFill>
            <a:prstDash val="solid"/>
          </a:ln>
        </p:spPr>
      </p:sp>
      <p:sp>
        <p:nvSpPr>
          <p:cNvPr id="28" name="Text 26"/>
          <p:cNvSpPr txBox="1"/>
          <p:nvPr/>
        </p:nvSpPr>
        <p:spPr>
          <a:xfrm>
            <a:off x="731520" y="5257800"/>
            <a:ext cx="411480" cy="411480"/>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29" name="Text 27"/>
          <p:cNvSpPr txBox="1"/>
          <p:nvPr/>
        </p:nvSpPr>
        <p:spPr>
          <a:xfrm>
            <a:off x="1234440" y="5120640"/>
            <a:ext cx="2103120" cy="731520"/>
          </a:xfrm>
          <a:prstGeom prst="rect">
            <a:avLst/>
          </a:prstGeom>
          <a:noFill/>
          <a:ln/>
        </p:spPr>
        <p:txBody>
          <a:bodyPr wrap="square" lIns="0" tIns="0" rIns="0" bIns="0" rtlCol="0" anchor="ctr"/>
          <a:lstStyle/>
          <a:p>
            <a:pPr indent="0" marL="0">
              <a:buNone/>
            </a:pPr>
            <a:r>
              <a:rPr lang="en-US" sz="1300" dirty="0">
                <a:solidFill>
                  <a:schemeClr val="bg1"/>
                </a:solidFill>
              </a:rPr>
              <a:t>Confirm scope and topic-to-system mapping</a:t>
            </a:r>
            <a:endParaRPr lang="en-US" sz="1300" dirty="0"/>
          </a:p>
        </p:txBody>
      </p:sp>
      <p:sp>
        <p:nvSpPr>
          <p:cNvPr id="30" name="Decision 2"/>
          <p:cNvSpPr/>
          <p:nvPr/>
        </p:nvSpPr>
        <p:spPr>
          <a:xfrm>
            <a:off x="3474720" y="5257800"/>
            <a:ext cx="411480" cy="411480"/>
          </a:xfrm>
          <a:prstGeom prst="ellipse">
            <a:avLst/>
          </a:prstGeom>
          <a:solidFill>
            <a:schemeClr val="accent2"/>
          </a:solidFill>
          <a:ln w="12700">
            <a:solidFill>
              <a:schemeClr val="accent2"/>
            </a:solidFill>
            <a:prstDash val="solid"/>
          </a:ln>
        </p:spPr>
      </p:sp>
      <p:sp>
        <p:nvSpPr>
          <p:cNvPr id="31" name="Text 29"/>
          <p:cNvSpPr txBox="1"/>
          <p:nvPr/>
        </p:nvSpPr>
        <p:spPr>
          <a:xfrm>
            <a:off x="3474720" y="5257800"/>
            <a:ext cx="411480" cy="411480"/>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32" name="Text 30"/>
          <p:cNvSpPr txBox="1"/>
          <p:nvPr/>
        </p:nvSpPr>
        <p:spPr>
          <a:xfrm>
            <a:off x="3977640" y="5120640"/>
            <a:ext cx="2103120" cy="731520"/>
          </a:xfrm>
          <a:prstGeom prst="rect">
            <a:avLst/>
          </a:prstGeom>
          <a:noFill/>
          <a:ln/>
        </p:spPr>
        <p:txBody>
          <a:bodyPr wrap="square" lIns="0" tIns="0" rIns="0" bIns="0" rtlCol="0" anchor="ctr"/>
          <a:lstStyle/>
          <a:p>
            <a:pPr indent="0" marL="0">
              <a:buNone/>
            </a:pPr>
            <a:r>
              <a:rPr lang="en-US" sz="1300" dirty="0">
                <a:solidFill>
                  <a:schemeClr val="bg1"/>
                </a:solidFill>
              </a:rPr>
              <a:t>Endorse targets: PROD &lt;180K, UAT ≤200K</a:t>
            </a:r>
            <a:endParaRPr lang="en-US" sz="1300" dirty="0"/>
          </a:p>
        </p:txBody>
      </p:sp>
      <p:sp>
        <p:nvSpPr>
          <p:cNvPr id="33" name="Decision 3"/>
          <p:cNvSpPr/>
          <p:nvPr/>
        </p:nvSpPr>
        <p:spPr>
          <a:xfrm>
            <a:off x="6217920" y="5257800"/>
            <a:ext cx="411480" cy="411480"/>
          </a:xfrm>
          <a:prstGeom prst="ellipse">
            <a:avLst/>
          </a:prstGeom>
          <a:solidFill>
            <a:schemeClr val="accent2"/>
          </a:solidFill>
          <a:ln w="12700">
            <a:solidFill>
              <a:schemeClr val="accent2"/>
            </a:solidFill>
            <a:prstDash val="solid"/>
          </a:ln>
        </p:spPr>
      </p:sp>
      <p:sp>
        <p:nvSpPr>
          <p:cNvPr id="34" name="Text 32"/>
          <p:cNvSpPr txBox="1"/>
          <p:nvPr/>
        </p:nvSpPr>
        <p:spPr>
          <a:xfrm>
            <a:off x="6217920" y="5257800"/>
            <a:ext cx="411480" cy="411480"/>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35" name="Text 33"/>
          <p:cNvSpPr txBox="1"/>
          <p:nvPr/>
        </p:nvSpPr>
        <p:spPr>
          <a:xfrm>
            <a:off x="6720840" y="5120640"/>
            <a:ext cx="2103120" cy="731520"/>
          </a:xfrm>
          <a:prstGeom prst="rect">
            <a:avLst/>
          </a:prstGeom>
          <a:noFill/>
          <a:ln/>
        </p:spPr>
        <p:txBody>
          <a:bodyPr wrap="square" lIns="0" tIns="0" rIns="0" bIns="0" rtlCol="0" anchor="ctr"/>
          <a:lstStyle/>
          <a:p>
            <a:pPr indent="0" marL="0">
              <a:buNone/>
            </a:pPr>
            <a:r>
              <a:rPr lang="en-US" sz="1300" dirty="0">
                <a:solidFill>
                  <a:schemeClr val="bg1"/>
                </a:solidFill>
              </a:rPr>
              <a:t>Approve change windows: UAT, then PROD</a:t>
            </a:r>
            <a:endParaRPr lang="en-US" sz="1300" dirty="0"/>
          </a:p>
        </p:txBody>
      </p:sp>
      <p:sp>
        <p:nvSpPr>
          <p:cNvPr id="36" name="Decision 4"/>
          <p:cNvSpPr/>
          <p:nvPr/>
        </p:nvSpPr>
        <p:spPr>
          <a:xfrm>
            <a:off x="8961120" y="5257800"/>
            <a:ext cx="411480" cy="411480"/>
          </a:xfrm>
          <a:prstGeom prst="ellipse">
            <a:avLst/>
          </a:prstGeom>
          <a:solidFill>
            <a:schemeClr val="accent2"/>
          </a:solidFill>
          <a:ln w="12700">
            <a:solidFill>
              <a:schemeClr val="accent2"/>
            </a:solidFill>
            <a:prstDash val="solid"/>
          </a:ln>
        </p:spPr>
      </p:sp>
      <p:sp>
        <p:nvSpPr>
          <p:cNvPr id="37" name="Text 35"/>
          <p:cNvSpPr txBox="1"/>
          <p:nvPr/>
        </p:nvSpPr>
        <p:spPr>
          <a:xfrm>
            <a:off x="8961120" y="5257800"/>
            <a:ext cx="411480" cy="411480"/>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38" name="Text 36"/>
          <p:cNvSpPr txBox="1"/>
          <p:nvPr/>
        </p:nvSpPr>
        <p:spPr>
          <a:xfrm>
            <a:off x="9464040" y="5120640"/>
            <a:ext cx="2103120" cy="731520"/>
          </a:xfrm>
          <a:prstGeom prst="rect">
            <a:avLst/>
          </a:prstGeom>
          <a:noFill/>
          <a:ln/>
        </p:spPr>
        <p:txBody>
          <a:bodyPr wrap="square" lIns="0" tIns="0" rIns="0" bIns="0" rtlCol="0" anchor="ctr"/>
          <a:lstStyle/>
          <a:p>
            <a:pPr indent="0" marL="0">
              <a:buNone/>
            </a:pPr>
            <a:r>
              <a:rPr lang="en-US" sz="1300" dirty="0">
                <a:solidFill>
                  <a:schemeClr val="bg1"/>
                </a:solidFill>
              </a:rPr>
              <a:t>Get AMR's 24 idle VMs attached</a:t>
            </a:r>
            <a:endParaRPr lang="en-US" sz="1300" dirty="0"/>
          </a:p>
        </p:txBody>
      </p:sp>
      <p:sp>
        <p:nvSpPr>
          <p:cNvPr id="25" name="Slide Number Placeholder 0"/>
          <p:cNvSpPr>
            <a:spLocks noGrp="1"/>
          </p:cNvSpPr>
          <p:nvPr>
            <p:ph type="sldNum" sz="quarter" idx="4294967295"/>
          </p:nvPr>
        </p:nvSpPr>
        <p:spPr>
          <a:xfrm>
            <a:off x="457200" y="6382512"/>
            <a:ext cx="3200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BSP Audit">
  <a:themeElements>
    <a:clrScheme name="BSP Audit">
      <a:dk1>
        <a:srgbClr val="0B1F45"/>
      </a:dk1>
      <a:lt1>
        <a:srgbClr val="FFFFFF"/>
      </a:lt1>
      <a:dk2>
        <a:srgbClr val="00395D"/>
      </a:dk2>
      <a:lt2>
        <a:srgbClr val="EAF5FB"/>
      </a:lt2>
      <a:accent1>
        <a:srgbClr val="0077B6"/>
      </a:accent1>
      <a:accent2>
        <a:srgbClr val="00AEEF"/>
      </a:accent2>
      <a:accent3>
        <a:srgbClr val="C62828"/>
      </a:accent3>
      <a:accent4>
        <a:srgbClr val="1E7D4F"/>
      </a:accent4>
      <a:accent5>
        <a:srgbClr val="B26A00"/>
      </a:accent5>
      <a:accent6>
        <a:srgbClr val="5B6B85"/>
      </a:accent6>
      <a:hlink>
        <a:srgbClr val="0077B6"/>
      </a:hlink>
      <a:folHlink>
        <a:srgbClr val="5B6B85"/>
      </a:folHlink>
    </a:clrScheme>
    <a:fontScheme name="BSP Audi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BSP v1 Kafka Platform – Audit roadmap</dc:title>
  <dc:subject>PptxGenJS Presentation</dc:subject>
  <dc:creator>Rajeev Rathnalingam</dc:creator>
  <cp:lastModifiedBy>Rajeev Rathnalingam</cp:lastModifiedBy>
  <cp:revision>1</cp:revision>
  <dcterms:created xsi:type="dcterms:W3CDTF">2026-10-30T15:33:53Z</dcterms:created>
  <dcterms:modified xsi:type="dcterms:W3CDTF">2026-10-30T15:33:53Z</dcterms:modified>
</cp:coreProperties>
</file>