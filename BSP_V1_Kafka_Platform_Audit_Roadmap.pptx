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1C8B7"/>
                </a:solidFill>
                <a:latin typeface="Aptos"/>
              </a:defRPr>
            </a:pPr>
            <a:r>
              <a:t>BSP V1  |  KAFKA PLATFORM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BSP v1 Kafka Platform | Audit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71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7C6D9"/>
                </a:solidFill>
                <a:latin typeface="Aptos"/>
              </a:defRPr>
            </a:pPr>
            <a:r>
              <a:t>On-prem estate inventory → risk-based remediation plan → controlled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3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7453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6D9"/>
                </a:solidFill>
                <a:latin typeface="Aptos"/>
              </a:defRPr>
            </a:pPr>
            <a:r>
              <a:t>Executive working proposal  •  29 Oct 2026  •  Audit dates and KPI targets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1C8B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92807"/>
            <a:ext cx="3602736" cy="2862072"/>
          </a:xfrm>
          <a:prstGeom prst="roundRect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084831"/>
            <a:ext cx="475488" cy="475488"/>
          </a:xfrm>
          <a:prstGeom prst="round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3931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1F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1576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DISCOVERY &amp;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C8B7"/>
                </a:solidFill>
                <a:latin typeface="Aptos"/>
              </a:defRPr>
            </a:pPr>
            <a:r>
              <a:t>Weeks 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7C6D9"/>
                </a:solidFill>
                <a:latin typeface="Aptos"/>
              </a:defRPr>
            </a:pPr>
            <a:r>
              <a:t>Inventory BSP v1 on-prem Kafka clusters, owners, versions, dependencies and control gaps.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F8FC"/>
                </a:solidFill>
                <a:latin typeface="Aptos"/>
              </a:defRPr>
            </a:pPr>
            <a:r>
              <a:t>Inventory + risk 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2916936"/>
            <a:ext cx="246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1C8B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1892807"/>
            <a:ext cx="3602736" cy="2862072"/>
          </a:xfrm>
          <a:prstGeom prst="roundRect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4" y="2084831"/>
            <a:ext cx="475488" cy="475488"/>
          </a:xfrm>
          <a:prstGeom prst="roundRect">
            <a:avLst/>
          </a:prstGeom>
          <a:solidFill>
            <a:srgbClr val="63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2167128"/>
            <a:ext cx="3931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1F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71576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REMEDIATION 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09067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3A4FF"/>
                </a:solidFill>
                <a:latin typeface="Aptos"/>
              </a:defRPr>
            </a:pPr>
            <a:r>
              <a:t>Weeks 4–5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502152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7C6D9"/>
                </a:solidFill>
                <a:latin typeface="Aptos"/>
              </a:defRPr>
            </a:pPr>
            <a:r>
              <a:t>Prioritize critical risks; assess impact, effort, ownership and approvals.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361688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F8FC"/>
                </a:solidFill>
                <a:latin typeface="Aptos"/>
              </a:defRPr>
            </a:pPr>
            <a:r>
              <a:t>Sequenced action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2916936"/>
            <a:ext cx="246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1C8B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1892807"/>
            <a:ext cx="3602736" cy="2862072"/>
          </a:xfrm>
          <a:prstGeom prst="roundRect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30767" y="2084831"/>
            <a:ext cx="475488" cy="475488"/>
          </a:xfrm>
          <a:prstGeom prst="roundRect">
            <a:avLst/>
          </a:prstGeom>
          <a:solidFill>
            <a:srgbClr val="FFB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2167128"/>
            <a:ext cx="3931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1F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7" y="2715768"/>
            <a:ext cx="3319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REMEDIATION &amp;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309067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C66"/>
                </a:solidFill>
                <a:latin typeface="Aptos"/>
              </a:defRPr>
            </a:pPr>
            <a:r>
              <a:t>Weeks 6–10+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7" y="3502152"/>
            <a:ext cx="32461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7C6D9"/>
                </a:solidFill>
                <a:latin typeface="Aptos"/>
              </a:defRPr>
            </a:pPr>
            <a:r>
              <a:t>Fix approved issues, verify controls and track accepted residual risks.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7" y="4361688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F8FC"/>
                </a:solidFill>
                <a:latin typeface="Aptos"/>
              </a:defRPr>
            </a:pPr>
            <a:r>
              <a:t>Validated closures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10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1C8B7"/>
                </a:solidFill>
                <a:latin typeface="Aptos"/>
              </a:defRPr>
            </a:pPr>
            <a:r>
              <a:t>PROPOSED DELIVERY WINDOW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5422392"/>
            <a:ext cx="3282696" cy="164592"/>
          </a:xfrm>
          <a:prstGeom prst="round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95344" y="5422392"/>
            <a:ext cx="2176272" cy="164592"/>
          </a:xfrm>
          <a:prstGeom prst="roundRect">
            <a:avLst/>
          </a:prstGeom>
          <a:solidFill>
            <a:srgbClr val="63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80760" y="5422392"/>
            <a:ext cx="5367528" cy="164592"/>
          </a:xfrm>
          <a:prstGeom prst="roundRect">
            <a:avLst/>
          </a:prstGeom>
          <a:solidFill>
            <a:srgbClr val="FFB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6504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9504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9352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3208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3888" y="5669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B7C6D9"/>
                </a:solidFill>
                <a:latin typeface="Aptos"/>
              </a:defRPr>
            </a:pPr>
            <a:r>
              <a:t>W10+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053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5F8FC"/>
                </a:solidFill>
                <a:latin typeface="Aptos"/>
              </a:defRPr>
            </a:pPr>
            <a:r>
              <a:t>GATE 1  Inventory and findings accepted     •     GATE 2  Prioritized plan approved     •     GATE 3  Fixes verified / residual risks signed 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1C8B7"/>
                </a:solidFill>
                <a:latin typeface="Aptos"/>
              </a:defRPr>
            </a:pPr>
            <a:r>
              <a:t>BSP V1  |  KAFKA PLATFORM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8FC"/>
                </a:solidFill>
                <a:latin typeface="Aptos"/>
              </a:defRPr>
            </a:pPr>
            <a:r>
              <a:t>Management dashboard | How success will be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71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7C6D9"/>
                </a:solidFill>
                <a:latin typeface="Aptos"/>
              </a:defRPr>
            </a:pPr>
            <a:r>
              <a:t>Simple leading indicators for coverage, risk reduction, accountability and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34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74536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6D9"/>
                </a:solidFill>
                <a:latin typeface="Aptos"/>
              </a:defRPr>
            </a:pPr>
            <a:r>
              <a:t>Executive working proposal  •  29 Oct 2026  •  Audit dates and KPI targets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288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1C8B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74519"/>
            <a:ext cx="5522976" cy="1234440"/>
          </a:xfrm>
          <a:prstGeom prst="roundRect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075688"/>
            <a:ext cx="50292" cy="832104"/>
          </a:xfrm>
          <a:prstGeom prst="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1167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1C8B7"/>
                </a:solidFill>
                <a:latin typeface="Aptos"/>
              </a:defRPr>
            </a:pPr>
            <a:r>
              <a:t>INVENTORY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286000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67712"/>
            <a:ext cx="3026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7C6D9"/>
                </a:solidFill>
                <a:latin typeface="Aptos"/>
              </a:defRPr>
            </a:pPr>
            <a:r>
              <a:t>BSP v1 clusters mapped to owner and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874519"/>
            <a:ext cx="5522976" cy="1234440"/>
          </a:xfrm>
          <a:prstGeom prst="roundRect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528" y="2075688"/>
            <a:ext cx="50292" cy="832104"/>
          </a:xfrm>
          <a:prstGeom prst="rect">
            <a:avLst/>
          </a:prstGeom>
          <a:solidFill>
            <a:srgbClr val="63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201167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3A4FF"/>
                </a:solidFill>
                <a:latin typeface="Aptos"/>
              </a:defRPr>
            </a:pPr>
            <a:r>
              <a:t>RISK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286000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216" y="2267712"/>
            <a:ext cx="3026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7C6D9"/>
                </a:solidFill>
                <a:latin typeface="Aptos"/>
              </a:defRPr>
            </a:pPr>
            <a:r>
              <a:t>BSP v1 clusters assessed and risk-rated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264408"/>
            <a:ext cx="5522976" cy="1234440"/>
          </a:xfrm>
          <a:prstGeom prst="roundRect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465576"/>
            <a:ext cx="50292" cy="832104"/>
          </a:xfrm>
          <a:prstGeom prst="rect">
            <a:avLst/>
          </a:prstGeom>
          <a:solidFill>
            <a:srgbClr val="FFB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40156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BC66"/>
                </a:solidFill>
                <a:latin typeface="Aptos"/>
              </a:defRPr>
            </a:pPr>
            <a:r>
              <a:t>CRITICAL RISK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75887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0 overdue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657600"/>
            <a:ext cx="3026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7C6D9"/>
                </a:solidFill>
                <a:latin typeface="Aptos"/>
              </a:defRPr>
            </a:pPr>
            <a:r>
              <a:t>Critical findings past approved due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3264408"/>
            <a:ext cx="5522976" cy="1234440"/>
          </a:xfrm>
          <a:prstGeom prst="roundRect">
            <a:avLst/>
          </a:prstGeom>
          <a:solidFill>
            <a:srgbClr val="1B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0528" y="3465576"/>
            <a:ext cx="50292" cy="832104"/>
          </a:xfrm>
          <a:prstGeom prst="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40156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1C8B7"/>
                </a:solidFill>
                <a:latin typeface="Aptos"/>
              </a:defRPr>
            </a:pPr>
            <a:r>
              <a:t>ACTION OWNERSHIP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675887"/>
            <a:ext cx="1719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216" y="3657600"/>
            <a:ext cx="30266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7C6D9"/>
                </a:solidFill>
                <a:latin typeface="Aptos"/>
              </a:defRPr>
            </a:pPr>
            <a:r>
              <a:t>High/critical findings with a named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45736"/>
            <a:ext cx="11292840" cy="1316736"/>
          </a:xfrm>
          <a:prstGeom prst="roundRect">
            <a:avLst/>
          </a:prstGeom>
          <a:solidFill>
            <a:srgbClr val="1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10328"/>
            <a:ext cx="36576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1C8B7"/>
                </a:solidFill>
                <a:latin typeface="Aptos"/>
              </a:defRPr>
            </a:pPr>
            <a:r>
              <a:t>MANAGEMENT DECISION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0096"/>
            <a:ext cx="32644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1  Confirm scope &amp; owners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5656" y="5340096"/>
            <a:ext cx="35570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2  Approve risk-based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534009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F8FC"/>
                </a:solidFill>
                <a:latin typeface="Aptos"/>
              </a:defRPr>
            </a:pPr>
            <a:r>
              <a:t>3  Accept closures / exceptions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8134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6D9"/>
                </a:solidFill>
                <a:latin typeface="Aptos"/>
              </a:defRPr>
            </a:pPr>
            <a:r>
              <a:t>BSP v1 audit focus: security hardening • unsupported estate / REL7 • observability gaps • tenant migration readiness • risk approvals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